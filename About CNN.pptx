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8"/>
  </p:notesMasterIdLst>
  <p:sldIdLst>
    <p:sldId id="256" r:id="rId2"/>
    <p:sldId id="258" r:id="rId3"/>
    <p:sldId id="257" r:id="rId4"/>
    <p:sldId id="259" r:id="rId5"/>
    <p:sldId id="264" r:id="rId6"/>
    <p:sldId id="266" r:id="rId7"/>
    <p:sldId id="267" r:id="rId8"/>
    <p:sldId id="260" r:id="rId9"/>
    <p:sldId id="262" r:id="rId10"/>
    <p:sldId id="268" r:id="rId11"/>
    <p:sldId id="269" r:id="rId12"/>
    <p:sldId id="261" r:id="rId13"/>
    <p:sldId id="263" r:id="rId14"/>
    <p:sldId id="265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08" autoAdjust="0"/>
    <p:restoredTop sz="84861" autoAdjust="0"/>
  </p:normalViewPr>
  <p:slideViewPr>
    <p:cSldViewPr snapToGrid="0">
      <p:cViewPr varScale="1">
        <p:scale>
          <a:sx n="58" d="100"/>
          <a:sy n="58" d="100"/>
        </p:scale>
        <p:origin x="111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돋움" panose="020B0600000101010101" pitchFamily="50" charset="-127"/>
                <a:ea typeface="돋움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돋움" panose="020B0600000101010101" pitchFamily="50" charset="-127"/>
                <a:ea typeface="돋움" panose="020B0600000101010101" pitchFamily="50" charset="-127"/>
              </a:defRPr>
            </a:lvl1pPr>
          </a:lstStyle>
          <a:p>
            <a:fld id="{1BFA1F17-3B1D-428A-87D8-3797E6CE1A4E}" type="datetimeFigureOut">
              <a:rPr lang="ko-KR" altLang="en-US" smtClean="0"/>
              <a:pPr/>
              <a:t>2018-05-23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돋움" panose="020B0600000101010101" pitchFamily="50" charset="-127"/>
                <a:ea typeface="돋움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돋움" panose="020B0600000101010101" pitchFamily="50" charset="-127"/>
                <a:ea typeface="돋움" panose="020B0600000101010101" pitchFamily="50" charset="-127"/>
              </a:defRPr>
            </a:lvl1pPr>
          </a:lstStyle>
          <a:p>
            <a:fld id="{038D1FE9-FF66-41C2-BE80-F93DB60AF7A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7586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8D1FE9-FF66-41C2-BE80-F93DB60AF7A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824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지도학습의 한 방법론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8D1FE9-FF66-41C2-BE80-F93DB60AF7A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8549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렐루는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  <a:r>
              <a:rPr lang="ko-KR" altLang="en-US" dirty="0"/>
              <a:t>이하를 잘라버리고 탄젠트는 </a:t>
            </a:r>
            <a:r>
              <a:rPr lang="en-US" altLang="ko-KR" dirty="0"/>
              <a:t>-1</a:t>
            </a:r>
            <a:r>
              <a:rPr lang="ko-KR" altLang="en-US" dirty="0"/>
              <a:t>로 수렴하기 때문에 복잡한 함수를 학습할 수 있음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8D1FE9-FF66-41C2-BE80-F93DB60AF7A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5876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EDE46-B72D-4C81-9303-08C2A9C307CE}" type="datetimeFigureOut">
              <a:rPr lang="ko-KR" altLang="en-US" smtClean="0"/>
              <a:t>2018-05-23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0A861831-6F9E-4821-A54E-74D021ED1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7820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EDE46-B72D-4C81-9303-08C2A9C307CE}" type="datetimeFigureOut">
              <a:rPr lang="ko-KR" altLang="en-US" smtClean="0"/>
              <a:t>2018-05-23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61831-6F9E-4821-A54E-74D021ED1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925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755EDE46-B72D-4C81-9303-08C2A9C307CE}" type="datetimeFigureOut">
              <a:rPr lang="ko-KR" altLang="en-US" smtClean="0"/>
              <a:t>2018-05-23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ko-KR" alt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0A861831-6F9E-4821-A54E-74D021ED1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47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EDE46-B72D-4C81-9303-08C2A9C307CE}" type="datetimeFigureOut">
              <a:rPr lang="ko-KR" altLang="en-US" smtClean="0"/>
              <a:t>2018-05-23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61831-6F9E-4821-A54E-74D021ED1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362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EDE46-B72D-4C81-9303-08C2A9C307CE}" type="datetimeFigureOut">
              <a:rPr lang="ko-KR" altLang="en-US" smtClean="0"/>
              <a:t>2018-05-23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61831-6F9E-4821-A54E-74D021ED1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1713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EDE46-B72D-4C81-9303-08C2A9C307CE}" type="datetimeFigureOut">
              <a:rPr lang="ko-KR" altLang="en-US" smtClean="0"/>
              <a:t>2018-05-23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61831-6F9E-4821-A54E-74D021ED1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811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EDE46-B72D-4C81-9303-08C2A9C307CE}" type="datetimeFigureOut">
              <a:rPr lang="ko-KR" altLang="en-US" smtClean="0"/>
              <a:t>2018-05-23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61831-6F9E-4821-A54E-74D021ED1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4039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EDE46-B72D-4C81-9303-08C2A9C307CE}" type="datetimeFigureOut">
              <a:rPr lang="ko-KR" altLang="en-US" smtClean="0"/>
              <a:t>2018-05-23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61831-6F9E-4821-A54E-74D021ED1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798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EDE46-B72D-4C81-9303-08C2A9C307CE}" type="datetimeFigureOut">
              <a:rPr lang="ko-KR" altLang="en-US" smtClean="0"/>
              <a:t>2018-05-23</a:t>
            </a:fld>
            <a:endParaRPr lang="ko-KR" alt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61831-6F9E-4821-A54E-74D021ED1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565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EDE46-B72D-4C81-9303-08C2A9C307CE}" type="datetimeFigureOut">
              <a:rPr lang="ko-KR" altLang="en-US" smtClean="0"/>
              <a:t>2018-05-23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61831-6F9E-4821-A54E-74D021ED1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356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EDE46-B72D-4C81-9303-08C2A9C307CE}" type="datetimeFigureOut">
              <a:rPr lang="ko-KR" altLang="en-US" smtClean="0"/>
              <a:t>2018-05-23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61831-6F9E-4821-A54E-74D021ED1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143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  <a:ea typeface="돋움" panose="020B0600000101010101" pitchFamily="50" charset="-127"/>
              </a:defRPr>
            </a:lvl1pPr>
          </a:lstStyle>
          <a:p>
            <a:fld id="{755EDE46-B72D-4C81-9303-08C2A9C307CE}" type="datetimeFigureOut">
              <a:rPr lang="ko-KR" altLang="en-US" smtClean="0"/>
              <a:pPr/>
              <a:t>2018-05-23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  <a:ea typeface="돋움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  <a:ea typeface="돋움" panose="020B0600000101010101" pitchFamily="50" charset="-127"/>
              </a:defRPr>
            </a:lvl1pPr>
          </a:lstStyle>
          <a:p>
            <a:fld id="{0A861831-6F9E-4821-A54E-74D021ED197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8234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돋움" panose="020B0600000101010101" pitchFamily="50" charset="-127"/>
          <a:cs typeface="+mj-cs"/>
        </a:defRPr>
      </a:lvl1pPr>
    </p:titleStyle>
    <p:bodyStyle>
      <a:lvl1pPr marL="182880" indent="-182880" algn="l" defTabSz="914400" rtl="0" eaLnBrk="1" latinLnBrk="1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돋움" panose="020B0600000101010101" pitchFamily="50" charset="-127"/>
          <a:cs typeface="+mn-cs"/>
        </a:defRPr>
      </a:lvl1pPr>
      <a:lvl2pPr marL="457200" indent="-182880" algn="l" defTabSz="914400" rtl="0" eaLnBrk="1" latinLnBrk="1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돋움" panose="020B0600000101010101" pitchFamily="50" charset="-127"/>
          <a:cs typeface="+mn-cs"/>
        </a:defRPr>
      </a:lvl2pPr>
      <a:lvl3pPr marL="731520" indent="-182880" algn="l" defTabSz="914400" rtl="0" eaLnBrk="1" latinLnBrk="1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돋움" panose="020B0600000101010101" pitchFamily="50" charset="-127"/>
          <a:cs typeface="+mn-cs"/>
        </a:defRPr>
      </a:lvl3pPr>
      <a:lvl4pPr marL="1005840" indent="-182880" algn="l" defTabSz="914400" rtl="0" eaLnBrk="1" latinLnBrk="1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돋움" panose="020B0600000101010101" pitchFamily="50" charset="-127"/>
          <a:cs typeface="+mn-cs"/>
        </a:defRPr>
      </a:lvl4pPr>
      <a:lvl5pPr marL="1280160" indent="-182880" algn="l" defTabSz="914400" rtl="0" eaLnBrk="1" latinLnBrk="1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돋움" panose="020B0600000101010101" pitchFamily="50" charset="-127"/>
          <a:cs typeface="+mn-cs"/>
        </a:defRPr>
      </a:lvl5pPr>
      <a:lvl6pPr marL="1600000" indent="-228600" algn="l" defTabSz="914400" rtl="0" eaLnBrk="1" latinLnBrk="1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1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1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1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06F26E-7B3B-48C3-9436-981B7E203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2488" y="2336180"/>
            <a:ext cx="9144000" cy="1185863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dirty="0"/>
              <a:t>이미지 인식 </a:t>
            </a:r>
            <a:br>
              <a:rPr lang="en-US" altLang="ko-KR" dirty="0"/>
            </a:br>
            <a:r>
              <a:rPr lang="en-US" altLang="ko-KR" dirty="0"/>
              <a:t>CNN</a:t>
            </a:r>
            <a:r>
              <a:rPr lang="ko-KR" altLang="en-US" dirty="0"/>
              <a:t>의 이해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DC5EDFD-3FB9-47BC-80D2-E045D7083A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18383" y="4776406"/>
            <a:ext cx="9144000" cy="1655762"/>
          </a:xfrm>
        </p:spPr>
        <p:txBody>
          <a:bodyPr/>
          <a:lstStyle/>
          <a:p>
            <a:r>
              <a:rPr lang="en-US" altLang="ko-KR" dirty="0"/>
              <a:t>5</a:t>
            </a:r>
            <a:r>
              <a:rPr lang="ko-KR" altLang="en-US" dirty="0"/>
              <a:t>조 </a:t>
            </a:r>
            <a:endParaRPr lang="en-US" altLang="ko-KR" dirty="0"/>
          </a:p>
          <a:p>
            <a:r>
              <a:rPr lang="en-US" altLang="ko-KR" dirty="0"/>
              <a:t>60131993 </a:t>
            </a:r>
            <a:r>
              <a:rPr lang="ko-KR" altLang="en-US" dirty="0" err="1"/>
              <a:t>이채윤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2047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3D4272-7014-4A65-9624-FAD2A81E0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D2D593-92B2-48CB-BA9C-F60186FC58D8}"/>
              </a:ext>
            </a:extLst>
          </p:cNvPr>
          <p:cNvSpPr txBox="1"/>
          <p:nvPr/>
        </p:nvSpPr>
        <p:spPr>
          <a:xfrm>
            <a:off x="1209284" y="1576366"/>
            <a:ext cx="947141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ea typeface="돋움" panose="020B0600000101010101" pitchFamily="50" charset="-127"/>
              </a:rPr>
              <a:t>1. </a:t>
            </a:r>
            <a:r>
              <a:rPr lang="ko-KR" altLang="en-US" sz="3200" dirty="0">
                <a:ea typeface="돋움" panose="020B0600000101010101" pitchFamily="50" charset="-127"/>
              </a:rPr>
              <a:t>머신 러닝의 알고리즘</a:t>
            </a:r>
          </a:p>
          <a:p>
            <a:r>
              <a:rPr lang="en-US" altLang="ko-KR" sz="3200" dirty="0">
                <a:ea typeface="돋움" panose="020B0600000101010101" pitchFamily="50" charset="-127"/>
              </a:rPr>
              <a:t>2. </a:t>
            </a:r>
            <a:r>
              <a:rPr lang="ko-KR" altLang="en-US" sz="3200" dirty="0" err="1">
                <a:ea typeface="돋움" panose="020B0600000101010101" pitchFamily="50" charset="-127"/>
              </a:rPr>
              <a:t>딥러닝의</a:t>
            </a:r>
            <a:r>
              <a:rPr lang="ko-KR" altLang="en-US" sz="3200" dirty="0">
                <a:ea typeface="돋움" panose="020B0600000101010101" pitchFamily="50" charset="-127"/>
              </a:rPr>
              <a:t> 기초</a:t>
            </a:r>
          </a:p>
          <a:p>
            <a:r>
              <a:rPr lang="en-US" altLang="ko-KR" sz="3200" dirty="0">
                <a:ea typeface="돋움" panose="020B0600000101010101" pitchFamily="50" charset="-127"/>
              </a:rPr>
              <a:t>3. CNN(convolutional Neural Network)	3.1 </a:t>
            </a:r>
            <a:r>
              <a:rPr lang="ko-KR" altLang="en-US" sz="3200" dirty="0">
                <a:ea typeface="돋움" panose="020B0600000101010101" pitchFamily="50" charset="-127"/>
              </a:rPr>
              <a:t>개요</a:t>
            </a:r>
          </a:p>
          <a:p>
            <a:r>
              <a:rPr lang="en-US" altLang="ko-KR" sz="3200" dirty="0">
                <a:ea typeface="돋움" panose="020B0600000101010101" pitchFamily="50" charset="-127"/>
              </a:rPr>
              <a:t>3.2.1 Convolution?</a:t>
            </a:r>
          </a:p>
          <a:p>
            <a:r>
              <a:rPr lang="en-US" altLang="ko-KR" sz="3200" dirty="0">
                <a:ea typeface="돋움" panose="020B0600000101010101" pitchFamily="50" charset="-127"/>
              </a:rPr>
              <a:t>3.2.2 CNN</a:t>
            </a:r>
            <a:r>
              <a:rPr lang="ko-KR" altLang="en-US" sz="3200" dirty="0">
                <a:ea typeface="돋움" panose="020B0600000101010101" pitchFamily="50" charset="-127"/>
              </a:rPr>
              <a:t>의 특징</a:t>
            </a:r>
          </a:p>
          <a:p>
            <a:r>
              <a:rPr lang="en-US" altLang="ko-KR" sz="3200" dirty="0">
                <a:ea typeface="돋움" panose="020B0600000101010101" pitchFamily="50" charset="-127"/>
              </a:rPr>
              <a:t>3.3 CNN</a:t>
            </a:r>
            <a:r>
              <a:rPr lang="ko-KR" altLang="en-US" sz="3200" dirty="0">
                <a:ea typeface="돋움" panose="020B0600000101010101" pitchFamily="50" charset="-127"/>
              </a:rPr>
              <a:t>의 구조</a:t>
            </a:r>
          </a:p>
          <a:p>
            <a:r>
              <a:rPr lang="en-US" altLang="ko-KR" sz="3200" dirty="0">
                <a:ea typeface="돋움" panose="020B0600000101010101" pitchFamily="50" charset="-127"/>
              </a:rPr>
              <a:t>4. MLP(multilayer </a:t>
            </a:r>
            <a:r>
              <a:rPr lang="en-US" altLang="ko-KR" sz="3200" dirty="0" err="1">
                <a:ea typeface="돋움" panose="020B0600000101010101" pitchFamily="50" charset="-127"/>
              </a:rPr>
              <a:t>Perceptrons</a:t>
            </a:r>
            <a:r>
              <a:rPr lang="en-US" altLang="ko-KR" sz="3200" dirty="0">
                <a:ea typeface="돋움" panose="020B0600000101010101" pitchFamily="50" charset="-127"/>
              </a:rPr>
              <a:t>)</a:t>
            </a:r>
            <a:r>
              <a:rPr lang="ko-KR" altLang="en-US" sz="3200" dirty="0">
                <a:ea typeface="돋움" panose="020B0600000101010101" pitchFamily="50" charset="-127"/>
              </a:rPr>
              <a:t>와 </a:t>
            </a:r>
            <a:r>
              <a:rPr lang="en-US" altLang="ko-KR" sz="3200" dirty="0">
                <a:ea typeface="돋움" panose="020B0600000101010101" pitchFamily="50" charset="-127"/>
              </a:rPr>
              <a:t>CNN</a:t>
            </a:r>
          </a:p>
          <a:p>
            <a:r>
              <a:rPr lang="en-US" altLang="ko-KR" sz="3200" dirty="0">
                <a:ea typeface="돋움" panose="020B0600000101010101" pitchFamily="50" charset="-127"/>
              </a:rPr>
              <a:t>5. Deep </a:t>
            </a:r>
            <a:r>
              <a:rPr lang="en-US" altLang="ko-KR" sz="3200" dirty="0" err="1">
                <a:ea typeface="돋움" panose="020B0600000101010101" pitchFamily="50" charset="-127"/>
              </a:rPr>
              <a:t>learnig</a:t>
            </a:r>
            <a:r>
              <a:rPr lang="ko-KR" altLang="en-US" sz="3200" dirty="0">
                <a:ea typeface="돋움" panose="020B0600000101010101" pitchFamily="50" charset="-127"/>
              </a:rPr>
              <a:t>으로 돌아가서</a:t>
            </a:r>
            <a:r>
              <a:rPr lang="en-US" altLang="ko-KR" sz="3200" dirty="0">
                <a:ea typeface="돋움" panose="020B0600000101010101" pitchFamily="50" charset="-127"/>
              </a:rPr>
              <a:t>…</a:t>
            </a:r>
          </a:p>
          <a:p>
            <a:r>
              <a:rPr lang="en-US" altLang="ko-KR" sz="3200" dirty="0">
                <a:ea typeface="돋움" panose="020B0600000101010101" pitchFamily="50" charset="-127"/>
              </a:rPr>
              <a:t>6. </a:t>
            </a:r>
            <a:r>
              <a:rPr lang="en-US" altLang="ko-KR" sz="3200" dirty="0" err="1">
                <a:ea typeface="돋움" panose="020B0600000101010101" pitchFamily="50" charset="-127"/>
              </a:rPr>
              <a:t>Tensorflow</a:t>
            </a:r>
            <a:r>
              <a:rPr lang="en-US" altLang="ko-KR" sz="3200" dirty="0">
                <a:ea typeface="돋움" panose="020B0600000101010101" pitchFamily="50" charset="-127"/>
              </a:rPr>
              <a:t> lite </a:t>
            </a:r>
            <a:endParaRPr lang="ko-KR" altLang="en-US" sz="3200" dirty="0"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6108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solarisailab.com/wp-content/uploads/2017/06/supervsied_unsupervised_reinforcement.jpg">
            <a:extLst>
              <a:ext uri="{FF2B5EF4-FFF2-40B4-BE49-F238E27FC236}">
                <a16:creationId xmlns:a16="http://schemas.microsoft.com/office/drawing/2014/main" id="{FB50C86E-3DCB-4A8C-A484-301AFAB6D0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7525" y="1444647"/>
            <a:ext cx="6076950" cy="456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2818F12C-F79E-48D2-8F29-43AED33ED522}"/>
              </a:ext>
            </a:extLst>
          </p:cNvPr>
          <p:cNvSpPr txBox="1">
            <a:spLocks/>
          </p:cNvSpPr>
          <p:nvPr/>
        </p:nvSpPr>
        <p:spPr>
          <a:xfrm>
            <a:off x="930234" y="690709"/>
            <a:ext cx="6361216" cy="753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ea typeface="돋움" panose="020B0600000101010101" pitchFamily="50" charset="-127"/>
              </a:rPr>
              <a:t>1. </a:t>
            </a:r>
            <a:r>
              <a:rPr lang="ko-KR" altLang="en-US" dirty="0" err="1">
                <a:ea typeface="돋움" panose="020B0600000101010101" pitchFamily="50" charset="-127"/>
              </a:rPr>
              <a:t>머신러닝의</a:t>
            </a:r>
            <a:r>
              <a:rPr lang="ko-KR" altLang="en-US" dirty="0">
                <a:ea typeface="돋움" panose="020B0600000101010101" pitchFamily="50" charset="-127"/>
              </a:rPr>
              <a:t> 알고리즘</a:t>
            </a:r>
          </a:p>
        </p:txBody>
      </p:sp>
    </p:spTree>
    <p:extLst>
      <p:ext uri="{BB962C8B-B14F-4D97-AF65-F5344CB8AC3E}">
        <p14:creationId xmlns:p14="http://schemas.microsoft.com/office/powerpoint/2010/main" val="2168035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2527AF-FFBE-4D80-8D47-6D7D484D4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1.1 </a:t>
            </a:r>
            <a:r>
              <a:rPr lang="ko-KR" altLang="en-US" dirty="0"/>
              <a:t>지도 학습 </a:t>
            </a:r>
            <a:r>
              <a:rPr lang="en-US" altLang="ko-KR" dirty="0"/>
              <a:t>(Supervised </a:t>
            </a:r>
            <a:r>
              <a:rPr lang="en-US" altLang="ko-KR" dirty="0" err="1"/>
              <a:t>Leanring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3C2522-6700-4DE3-9698-A767C96FF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 err="1"/>
              <a:t>Lable</a:t>
            </a:r>
            <a:r>
              <a:rPr lang="en-US" altLang="ko-KR" dirty="0"/>
              <a:t> </a:t>
            </a:r>
            <a:r>
              <a:rPr lang="ko-KR" altLang="en-US" dirty="0"/>
              <a:t>로 명시적 정답이 주어진 상태에서 컴퓨터를 학습시키는 방법</a:t>
            </a:r>
          </a:p>
        </p:txBody>
      </p:sp>
      <p:sp>
        <p:nvSpPr>
          <p:cNvPr id="4" name="화살표: 왼쪽/위쪽 3">
            <a:extLst>
              <a:ext uri="{FF2B5EF4-FFF2-40B4-BE49-F238E27FC236}">
                <a16:creationId xmlns:a16="http://schemas.microsoft.com/office/drawing/2014/main" id="{3611C75D-E3A4-41BC-B699-4F3E18AF016E}"/>
              </a:ext>
            </a:extLst>
          </p:cNvPr>
          <p:cNvSpPr/>
          <p:nvPr/>
        </p:nvSpPr>
        <p:spPr>
          <a:xfrm rot="8100000">
            <a:off x="3253839" y="3645724"/>
            <a:ext cx="1436915" cy="1436915"/>
          </a:xfrm>
          <a:prstGeom prst="lef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돋움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6E94C4-CD40-4B9E-8A93-6A9F7C65FBF3}"/>
              </a:ext>
            </a:extLst>
          </p:cNvPr>
          <p:cNvSpPr txBox="1"/>
          <p:nvPr/>
        </p:nvSpPr>
        <p:spPr>
          <a:xfrm>
            <a:off x="4358244" y="3572286"/>
            <a:ext cx="7160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ea typeface="돋움" panose="020B0600000101010101" pitchFamily="50" charset="-127"/>
              </a:rPr>
              <a:t>Discrete</a:t>
            </a:r>
            <a:r>
              <a:rPr lang="ko-KR" altLang="en-US" sz="2400" dirty="0">
                <a:ea typeface="돋움" panose="020B0600000101010101" pitchFamily="50" charset="-127"/>
              </a:rPr>
              <a:t> </a:t>
            </a:r>
            <a:r>
              <a:rPr lang="en-US" altLang="ko-KR" sz="2400" dirty="0">
                <a:ea typeface="돋움" panose="020B0600000101010101" pitchFamily="50" charset="-127"/>
              </a:rPr>
              <a:t>value(</a:t>
            </a:r>
            <a:r>
              <a:rPr lang="ko-KR" altLang="en-US" sz="2400" dirty="0" err="1">
                <a:ea typeface="돋움" panose="020B0600000101010101" pitchFamily="50" charset="-127"/>
              </a:rPr>
              <a:t>이산값</a:t>
            </a:r>
            <a:r>
              <a:rPr lang="en-US" altLang="ko-KR" sz="2400" dirty="0">
                <a:ea typeface="돋움" panose="020B0600000101010101" pitchFamily="50" charset="-127"/>
              </a:rPr>
              <a:t>)                   </a:t>
            </a:r>
            <a:r>
              <a:rPr lang="ko-KR" altLang="en-US" sz="2400" dirty="0">
                <a:ea typeface="돋움" panose="020B0600000101010101" pitchFamily="50" charset="-127"/>
              </a:rPr>
              <a:t>분류문제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F9DFE7-2D55-4407-A8F4-1EF5BEACFAD3}"/>
              </a:ext>
            </a:extLst>
          </p:cNvPr>
          <p:cNvSpPr txBox="1"/>
          <p:nvPr/>
        </p:nvSpPr>
        <p:spPr>
          <a:xfrm>
            <a:off x="4358244" y="4643791"/>
            <a:ext cx="7160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ea typeface="돋움" panose="020B0600000101010101" pitchFamily="50" charset="-127"/>
              </a:rPr>
              <a:t>Continuous</a:t>
            </a:r>
            <a:r>
              <a:rPr lang="ko-KR" altLang="en-US" sz="2400" dirty="0">
                <a:ea typeface="돋움" panose="020B0600000101010101" pitchFamily="50" charset="-127"/>
              </a:rPr>
              <a:t> </a:t>
            </a:r>
            <a:r>
              <a:rPr lang="en-US" altLang="ko-KR" sz="2400" dirty="0">
                <a:ea typeface="돋움" panose="020B0600000101010101" pitchFamily="50" charset="-127"/>
              </a:rPr>
              <a:t>value(</a:t>
            </a:r>
            <a:r>
              <a:rPr lang="ko-KR" altLang="en-US" sz="2400" dirty="0" err="1">
                <a:ea typeface="돋움" panose="020B0600000101010101" pitchFamily="50" charset="-127"/>
              </a:rPr>
              <a:t>연속값</a:t>
            </a:r>
            <a:r>
              <a:rPr lang="en-US" altLang="ko-KR" sz="2400" dirty="0">
                <a:ea typeface="돋움" panose="020B0600000101010101" pitchFamily="50" charset="-127"/>
              </a:rPr>
              <a:t>)               </a:t>
            </a:r>
            <a:r>
              <a:rPr lang="ko-KR" altLang="en-US" sz="2400" dirty="0">
                <a:ea typeface="돋움" panose="020B0600000101010101" pitchFamily="50" charset="-127"/>
              </a:rPr>
              <a:t>회귀문제</a:t>
            </a: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3CC5886C-BDA8-4CE4-A462-68B88066F6C5}"/>
              </a:ext>
            </a:extLst>
          </p:cNvPr>
          <p:cNvSpPr/>
          <p:nvPr/>
        </p:nvSpPr>
        <p:spPr>
          <a:xfrm>
            <a:off x="8090282" y="3572284"/>
            <a:ext cx="1145474" cy="4616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돋움" panose="020B0600000101010101" pitchFamily="50" charset="-127"/>
            </a:endParaRP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AC4AAAB7-3907-4EAD-AC95-B30D9CCA7D98}"/>
              </a:ext>
            </a:extLst>
          </p:cNvPr>
          <p:cNvSpPr/>
          <p:nvPr/>
        </p:nvSpPr>
        <p:spPr>
          <a:xfrm>
            <a:off x="8090282" y="4659123"/>
            <a:ext cx="1145474" cy="4616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돋움" panose="020B0600000101010101" pitchFamily="50" charset="-127"/>
            </a:endParaRP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D034D13F-2796-4720-B5B3-6B3271A6DDAE}"/>
              </a:ext>
            </a:extLst>
          </p:cNvPr>
          <p:cNvSpPr txBox="1">
            <a:spLocks/>
          </p:cNvSpPr>
          <p:nvPr/>
        </p:nvSpPr>
        <p:spPr>
          <a:xfrm>
            <a:off x="454943" y="366028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ea typeface="돋움" panose="020B0600000101010101" pitchFamily="50" charset="-127"/>
              </a:rPr>
              <a:t>지도 학습</a:t>
            </a:r>
          </a:p>
        </p:txBody>
      </p:sp>
    </p:spTree>
    <p:extLst>
      <p:ext uri="{BB962C8B-B14F-4D97-AF65-F5344CB8AC3E}">
        <p14:creationId xmlns:p14="http://schemas.microsoft.com/office/powerpoint/2010/main" val="3560420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45D48ABC-1C35-4453-801F-399EE6E8A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 err="1"/>
              <a:t>딥러닝의</a:t>
            </a:r>
            <a:r>
              <a:rPr lang="ko-KR" altLang="en-US" dirty="0"/>
              <a:t> 기초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6143F98-5AA4-412E-BBD9-9293947824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863" t="34155" r="38151" b="37169"/>
          <a:stretch/>
        </p:blipFill>
        <p:spPr>
          <a:xfrm>
            <a:off x="985978" y="1573886"/>
            <a:ext cx="9525207" cy="2955451"/>
          </a:xfrm>
          <a:prstGeom prst="rect">
            <a:avLst/>
          </a:prstGeom>
        </p:spPr>
      </p:pic>
      <p:pic>
        <p:nvPicPr>
          <p:cNvPr id="6148" name="Picture 4" descr="\hat{y} = w \times x + b">
            <a:extLst>
              <a:ext uri="{FF2B5EF4-FFF2-40B4-BE49-F238E27FC236}">
                <a16:creationId xmlns:a16="http://schemas.microsoft.com/office/drawing/2014/main" id="{55E59A36-B137-4BB0-B61E-7E73A15AF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111" y="4960124"/>
            <a:ext cx="4009372" cy="647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hackers_singleneuron">
            <a:extLst>
              <a:ext uri="{FF2B5EF4-FFF2-40B4-BE49-F238E27FC236}">
                <a16:creationId xmlns:a16="http://schemas.microsoft.com/office/drawing/2014/main" id="{FCFD3E29-75C0-45C0-A115-F21AEC362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8581" y="2899449"/>
            <a:ext cx="5642243" cy="329873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1000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0FCC6CDF-C07D-43DC-8385-6C582CA5DAC8}"/>
              </a:ext>
            </a:extLst>
          </p:cNvPr>
          <p:cNvGrpSpPr/>
          <p:nvPr/>
        </p:nvGrpSpPr>
        <p:grpSpPr>
          <a:xfrm>
            <a:off x="971795" y="1286933"/>
            <a:ext cx="10248409" cy="3586489"/>
            <a:chOff x="1223433" y="3429000"/>
            <a:chExt cx="10567826" cy="2621693"/>
          </a:xfrm>
        </p:grpSpPr>
        <p:pic>
          <p:nvPicPr>
            <p:cNvPr id="10" name="Picture 2" descr="fig2-44">
              <a:extLst>
                <a:ext uri="{FF2B5EF4-FFF2-40B4-BE49-F238E27FC236}">
                  <a16:creationId xmlns:a16="http://schemas.microsoft.com/office/drawing/2014/main" id="{54FEA096-9B13-4792-88BF-C551B17692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23433" y="3482118"/>
              <a:ext cx="2142768" cy="25685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화살표: 오른쪽 10">
              <a:extLst>
                <a:ext uri="{FF2B5EF4-FFF2-40B4-BE49-F238E27FC236}">
                  <a16:creationId xmlns:a16="http://schemas.microsoft.com/office/drawing/2014/main" id="{C26F4ABB-F815-44B8-A648-785BE116846A}"/>
                </a:ext>
              </a:extLst>
            </p:cNvPr>
            <p:cNvSpPr/>
            <p:nvPr/>
          </p:nvSpPr>
          <p:spPr>
            <a:xfrm>
              <a:off x="3657599" y="4365623"/>
              <a:ext cx="948267" cy="8128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ea typeface="돋움" panose="020B0600000101010101" pitchFamily="50" charset="-127"/>
              </a:endParaRPr>
            </a:p>
          </p:txBody>
        </p:sp>
        <p:pic>
          <p:nvPicPr>
            <p:cNvPr id="12" name="Picture 4" descr="fig2-45">
              <a:extLst>
                <a:ext uri="{FF2B5EF4-FFF2-40B4-BE49-F238E27FC236}">
                  <a16:creationId xmlns:a16="http://schemas.microsoft.com/office/drawing/2014/main" id="{E424B3FE-3010-4E64-92A3-1E39334A00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7264" y="3429000"/>
              <a:ext cx="3270334" cy="25685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6" descr="fig2-47">
              <a:extLst>
                <a:ext uri="{FF2B5EF4-FFF2-40B4-BE49-F238E27FC236}">
                  <a16:creationId xmlns:a16="http://schemas.microsoft.com/office/drawing/2014/main" id="{F46052DF-FCA3-4E4B-B378-20824AE9A9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7598" y="3563937"/>
              <a:ext cx="3623661" cy="20521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070FA7F-34E9-49A8-96C6-B5486BC69F3B}"/>
              </a:ext>
            </a:extLst>
          </p:cNvPr>
          <p:cNvSpPr txBox="1"/>
          <p:nvPr/>
        </p:nvSpPr>
        <p:spPr>
          <a:xfrm>
            <a:off x="1507067" y="5386473"/>
            <a:ext cx="95503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ea typeface="돋움" panose="020B0600000101010101" pitchFamily="50" charset="-127"/>
              </a:rPr>
              <a:t>많은 은닉층으로 구성된 대규모 신경망 </a:t>
            </a:r>
            <a:r>
              <a:rPr lang="en-US" altLang="ko-KR" sz="3200" b="1" dirty="0">
                <a:ea typeface="돋움" panose="020B0600000101010101" pitchFamily="50" charset="-127"/>
              </a:rPr>
              <a:t>-&gt; </a:t>
            </a:r>
            <a:r>
              <a:rPr lang="ko-KR" altLang="en-US" sz="3200" b="1" dirty="0" err="1">
                <a:solidFill>
                  <a:srgbClr val="FF0000"/>
                </a:solidFill>
                <a:ea typeface="돋움" panose="020B0600000101010101" pitchFamily="50" charset="-127"/>
              </a:rPr>
              <a:t>딥러닝</a:t>
            </a:r>
            <a:endParaRPr lang="ko-KR" altLang="en-US" sz="3200" b="1" dirty="0">
              <a:solidFill>
                <a:srgbClr val="FF0000"/>
              </a:solidFill>
              <a:ea typeface="돋움" panose="020B0600000101010101" pitchFamily="50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6D87177D-2478-4F74-93B2-1F37F3D88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66" y="286811"/>
            <a:ext cx="10515600" cy="1325563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 err="1"/>
              <a:t>딥러닝의</a:t>
            </a:r>
            <a:r>
              <a:rPr lang="ko-KR" altLang="en-US" dirty="0"/>
              <a:t> 기초</a:t>
            </a:r>
          </a:p>
        </p:txBody>
      </p:sp>
    </p:spTree>
    <p:extLst>
      <p:ext uri="{BB962C8B-B14F-4D97-AF65-F5344CB8AC3E}">
        <p14:creationId xmlns:p14="http://schemas.microsoft.com/office/powerpoint/2010/main" val="881072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63A05-1027-46FA-BBD6-1AA43760F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 CNN(convolutional Neural Network)</a:t>
            </a:r>
            <a:br>
              <a:rPr lang="en-US" altLang="ko-KR" dirty="0"/>
            </a:br>
            <a:r>
              <a:rPr lang="en-US" altLang="ko-KR" dirty="0"/>
              <a:t>	</a:t>
            </a:r>
            <a:r>
              <a:rPr lang="en-US" altLang="ko-KR" sz="3600" dirty="0"/>
              <a:t>3.1</a:t>
            </a:r>
            <a:r>
              <a:rPr lang="ko-KR" altLang="en-US" sz="3600" dirty="0"/>
              <a:t> 개요</a:t>
            </a:r>
            <a:endParaRPr lang="ko-KR" altLang="en-US" dirty="0"/>
          </a:p>
        </p:txBody>
      </p:sp>
      <p:pic>
        <p:nvPicPr>
          <p:cNvPr id="8194" name="Picture 2" descr="Image result for ìì  ì°ê²° ë´ë´ ë¤í¸ìí¬">
            <a:extLst>
              <a:ext uri="{FF2B5EF4-FFF2-40B4-BE49-F238E27FC236}">
                <a16:creationId xmlns:a16="http://schemas.microsoft.com/office/drawing/2014/main" id="{3A963B92-2249-4345-B5A2-38A37DCAC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057" y="1955121"/>
            <a:ext cx="4903838" cy="2443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6415AC-7B5D-4974-8969-BBFB10C9B982}"/>
              </a:ext>
            </a:extLst>
          </p:cNvPr>
          <p:cNvSpPr txBox="1"/>
          <p:nvPr/>
        </p:nvSpPr>
        <p:spPr>
          <a:xfrm>
            <a:off x="1103085" y="4862286"/>
            <a:ext cx="3875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ea typeface="돋움" panose="020B0600000101010101" pitchFamily="50" charset="-127"/>
              </a:rPr>
              <a:t>완전 연결 </a:t>
            </a:r>
            <a:r>
              <a:rPr lang="ko-KR" altLang="en-US" sz="2400" dirty="0" err="1">
                <a:ea typeface="돋움" panose="020B0600000101010101" pitchFamily="50" charset="-127"/>
              </a:rPr>
              <a:t>뉴럴</a:t>
            </a:r>
            <a:r>
              <a:rPr lang="ko-KR" altLang="en-US" sz="2400" dirty="0">
                <a:ea typeface="돋움" panose="020B0600000101010101" pitchFamily="50" charset="-127"/>
              </a:rPr>
              <a:t> 네트워크</a:t>
            </a:r>
            <a:endParaRPr lang="en-US" altLang="ko-KR" sz="2400" dirty="0">
              <a:ea typeface="돋움" panose="020B0600000101010101" pitchFamily="50" charset="-127"/>
            </a:endParaRPr>
          </a:p>
          <a:p>
            <a:pPr algn="ctr"/>
            <a:r>
              <a:rPr lang="en-US" altLang="ko-KR" sz="2400" dirty="0">
                <a:ea typeface="돋움" panose="020B0600000101010101" pitchFamily="50" charset="-127"/>
              </a:rPr>
              <a:t>1</a:t>
            </a:r>
            <a:r>
              <a:rPr lang="ko-KR" altLang="en-US" sz="2400" dirty="0">
                <a:ea typeface="돋움" panose="020B0600000101010101" pitchFamily="50" charset="-127"/>
              </a:rPr>
              <a:t>차원 배열</a:t>
            </a:r>
          </a:p>
        </p:txBody>
      </p:sp>
      <p:pic>
        <p:nvPicPr>
          <p:cNvPr id="8196" name="Picture 4" descr="hackers_4_1">
            <a:extLst>
              <a:ext uri="{FF2B5EF4-FFF2-40B4-BE49-F238E27FC236}">
                <a16:creationId xmlns:a16="http://schemas.microsoft.com/office/drawing/2014/main" id="{1859E3FC-E774-4557-8E4E-1EA53AD87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314575"/>
            <a:ext cx="5953125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881056-6264-43F3-9DF8-3CC467993138}"/>
              </a:ext>
            </a:extLst>
          </p:cNvPr>
          <p:cNvSpPr txBox="1"/>
          <p:nvPr/>
        </p:nvSpPr>
        <p:spPr>
          <a:xfrm>
            <a:off x="6712856" y="4862286"/>
            <a:ext cx="3875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ea typeface="돋움" panose="020B0600000101010101" pitchFamily="50" charset="-127"/>
              </a:rPr>
              <a:t>이미지 처리에 적합한</a:t>
            </a:r>
            <a:endParaRPr lang="en-US" altLang="ko-KR" sz="2400" dirty="0">
              <a:ea typeface="돋움" panose="020B0600000101010101" pitchFamily="50" charset="-127"/>
            </a:endParaRPr>
          </a:p>
          <a:p>
            <a:pPr algn="ctr"/>
            <a:r>
              <a:rPr lang="en-US" altLang="ko-KR" sz="2400" dirty="0">
                <a:ea typeface="돋움" panose="020B0600000101010101" pitchFamily="50" charset="-127"/>
              </a:rPr>
              <a:t>2</a:t>
            </a:r>
            <a:r>
              <a:rPr lang="ko-KR" altLang="en-US" sz="2400" dirty="0">
                <a:ea typeface="돋움" panose="020B0600000101010101" pitchFamily="50" charset="-127"/>
              </a:rPr>
              <a:t>차원 배열</a:t>
            </a:r>
          </a:p>
        </p:txBody>
      </p:sp>
    </p:spTree>
    <p:extLst>
      <p:ext uri="{BB962C8B-B14F-4D97-AF65-F5344CB8AC3E}">
        <p14:creationId xmlns:p14="http://schemas.microsoft.com/office/powerpoint/2010/main" val="1542684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1153AF-4B10-4EFA-895C-45E280392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CNN(convolutional Neural Network)</a:t>
            </a:r>
            <a:endParaRPr lang="ko-KR" altLang="en-US" dirty="0"/>
          </a:p>
        </p:txBody>
      </p:sp>
      <p:pic>
        <p:nvPicPr>
          <p:cNvPr id="2050" name="Picture 2" descr="https://3.bp.blogspot.com/-bH_jo70L-YI/Vu1U-lkFQ_I/AAAAAAAAAKg/xShFElCDF6orH0-W0f96ekSXw29jnkAxQ/s400/%25EC%25BA%25A1%25EC%25B2%2598.PNG">
            <a:extLst>
              <a:ext uri="{FF2B5EF4-FFF2-40B4-BE49-F238E27FC236}">
                <a16:creationId xmlns:a16="http://schemas.microsoft.com/office/drawing/2014/main" id="{BBCD5430-0898-4E6C-942C-C4581CFEA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2938" y="1690688"/>
            <a:ext cx="3845316" cy="470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020F82-1B13-4D5F-8718-339ABB048879}"/>
              </a:ext>
            </a:extLst>
          </p:cNvPr>
          <p:cNvSpPr txBox="1"/>
          <p:nvPr/>
        </p:nvSpPr>
        <p:spPr>
          <a:xfrm>
            <a:off x="930447" y="1859340"/>
            <a:ext cx="6150577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ea typeface="돋움" panose="020B0600000101010101" pitchFamily="50" charset="-127"/>
              </a:rPr>
              <a:t>3.2.1 Convolution?</a:t>
            </a:r>
          </a:p>
          <a:p>
            <a:endParaRPr lang="en-US" altLang="ko-KR" sz="900" dirty="0">
              <a:ea typeface="돋움" panose="020B0600000101010101" pitchFamily="50" charset="-127"/>
            </a:endParaRPr>
          </a:p>
          <a:p>
            <a:r>
              <a:rPr lang="ko-KR" altLang="en-US" sz="2400" dirty="0">
                <a:ea typeface="돋움" panose="020B0600000101010101" pitchFamily="50" charset="-127"/>
              </a:rPr>
              <a:t>특정 </a:t>
            </a:r>
            <a:r>
              <a:rPr lang="en-US" altLang="ko-KR" sz="2400" b="1" dirty="0">
                <a:ea typeface="돋움" panose="020B0600000101010101" pitchFamily="50" charset="-127"/>
              </a:rPr>
              <a:t>feature </a:t>
            </a:r>
            <a:r>
              <a:rPr lang="ko-KR" altLang="en-US" sz="2400" b="1" dirty="0">
                <a:ea typeface="돋움" panose="020B0600000101010101" pitchFamily="50" charset="-127"/>
              </a:rPr>
              <a:t>추출을 </a:t>
            </a:r>
            <a:r>
              <a:rPr lang="ko-KR" altLang="en-US" sz="2400" dirty="0">
                <a:ea typeface="돋움" panose="020B0600000101010101" pitchFamily="50" charset="-127"/>
              </a:rPr>
              <a:t>위한 필터 구현방법</a:t>
            </a:r>
            <a:endParaRPr lang="en-US" altLang="ko-KR" sz="2400" dirty="0">
              <a:ea typeface="돋움" panose="020B0600000101010101" pitchFamily="50" charset="-127"/>
            </a:endParaRPr>
          </a:p>
          <a:p>
            <a:endParaRPr lang="en-US" altLang="ko-KR" sz="2400" dirty="0">
              <a:ea typeface="돋움" panose="020B0600000101010101" pitchFamily="50" charset="-127"/>
            </a:endParaRPr>
          </a:p>
          <a:p>
            <a:endParaRPr lang="en-US" altLang="ko-KR" sz="2400" dirty="0">
              <a:ea typeface="돋움" panose="020B0600000101010101" pitchFamily="50" charset="-127"/>
            </a:endParaRPr>
          </a:p>
          <a:p>
            <a:endParaRPr lang="en-US" altLang="ko-KR" sz="2400" dirty="0">
              <a:ea typeface="돋움" panose="020B0600000101010101" pitchFamily="50" charset="-127"/>
            </a:endParaRPr>
          </a:p>
          <a:p>
            <a:r>
              <a:rPr lang="en-US" altLang="ko-KR" sz="3600" dirty="0">
                <a:ea typeface="돋움" panose="020B0600000101010101" pitchFamily="50" charset="-127"/>
              </a:rPr>
              <a:t>3.2.2 CNN</a:t>
            </a:r>
            <a:r>
              <a:rPr lang="ko-KR" altLang="en-US" sz="3600" dirty="0">
                <a:ea typeface="돋움" panose="020B0600000101010101" pitchFamily="50" charset="-127"/>
              </a:rPr>
              <a:t>의 특징</a:t>
            </a:r>
            <a:endParaRPr lang="en-US" altLang="ko-KR" sz="3600" dirty="0">
              <a:ea typeface="돋움" panose="020B0600000101010101" pitchFamily="50" charset="-127"/>
            </a:endParaRPr>
          </a:p>
          <a:p>
            <a:pPr marL="914400" lvl="1" indent="-457200">
              <a:buAutoNum type="arabicPeriod"/>
            </a:pPr>
            <a:r>
              <a:rPr lang="ko-KR" altLang="en-US" sz="2400" dirty="0">
                <a:ea typeface="돋움" panose="020B0600000101010101" pitchFamily="50" charset="-127"/>
              </a:rPr>
              <a:t>공간적으로 인접한 신호들에 대한 </a:t>
            </a:r>
            <a:r>
              <a:rPr lang="en-US" altLang="ko-KR" sz="2400" b="1" dirty="0">
                <a:ea typeface="돋움" panose="020B0600000101010101" pitchFamily="50" charset="-127"/>
              </a:rPr>
              <a:t>Correlation</a:t>
            </a:r>
            <a:r>
              <a:rPr lang="ko-KR" altLang="en-US" sz="2400" dirty="0">
                <a:ea typeface="돋움" panose="020B0600000101010101" pitchFamily="50" charset="-127"/>
              </a:rPr>
              <a:t>을 비선형 </a:t>
            </a:r>
            <a:r>
              <a:rPr lang="en-US" altLang="ko-KR" sz="2400" dirty="0">
                <a:ea typeface="돋움" panose="020B0600000101010101" pitchFamily="50" charset="-127"/>
              </a:rPr>
              <a:t>filter</a:t>
            </a:r>
            <a:r>
              <a:rPr lang="ko-KR" altLang="en-US" sz="2400" dirty="0">
                <a:ea typeface="돋움" panose="020B0600000101010101" pitchFamily="50" charset="-127"/>
              </a:rPr>
              <a:t>로 적용하여 추출해 낸다</a:t>
            </a:r>
            <a:r>
              <a:rPr lang="en-US" altLang="ko-KR" sz="2400" dirty="0">
                <a:ea typeface="돋움" panose="020B0600000101010101" pitchFamily="50" charset="-127"/>
              </a:rPr>
              <a:t>. -&gt; </a:t>
            </a:r>
            <a:r>
              <a:rPr lang="ko-KR" altLang="en-US" sz="2400" dirty="0">
                <a:ea typeface="돋움" panose="020B0600000101010101" pitchFamily="50" charset="-127"/>
              </a:rPr>
              <a:t>효과적인 </a:t>
            </a:r>
            <a:r>
              <a:rPr lang="en-US" altLang="ko-KR" sz="2400" dirty="0">
                <a:ea typeface="돋움" panose="020B0600000101010101" pitchFamily="50" charset="-127"/>
              </a:rPr>
              <a:t>feature </a:t>
            </a:r>
            <a:r>
              <a:rPr lang="ko-KR" altLang="en-US" sz="2400" dirty="0">
                <a:ea typeface="돋움" panose="020B0600000101010101" pitchFamily="50" charset="-127"/>
              </a:rPr>
              <a:t>추출 가능</a:t>
            </a:r>
            <a:endParaRPr lang="en-US" altLang="ko-KR" sz="2400" dirty="0">
              <a:ea typeface="돋움" panose="020B0600000101010101" pitchFamily="50" charset="-127"/>
            </a:endParaRPr>
          </a:p>
          <a:p>
            <a:pPr marL="914400" lvl="1" indent="-457200">
              <a:buAutoNum type="arabicPeriod"/>
            </a:pPr>
            <a:r>
              <a:rPr lang="en-US" altLang="ko-KR" sz="2400" b="1" dirty="0">
                <a:ea typeface="돋움" panose="020B0600000101010101" pitchFamily="50" charset="-127"/>
              </a:rPr>
              <a:t>Shared weight</a:t>
            </a:r>
          </a:p>
          <a:p>
            <a:pPr lvl="1"/>
            <a:endParaRPr lang="en-US" altLang="ko-KR" sz="2400" dirty="0">
              <a:ea typeface="돋움" panose="020B0600000101010101" pitchFamily="50" charset="-127"/>
            </a:endParaRPr>
          </a:p>
          <a:p>
            <a:endParaRPr lang="ko-KR" altLang="en-US" sz="2400" dirty="0">
              <a:ea typeface="돋움" panose="020B0600000101010101" pitchFamily="50" charset="-127"/>
            </a:endParaRPr>
          </a:p>
        </p:txBody>
      </p:sp>
      <p:pic>
        <p:nvPicPr>
          <p:cNvPr id="2052" name="Picture 4" descr="(f*g)(t) = \int_{-\infty}^{\infty} f(\tau)g(t-\tau)\, d\tau">
            <a:extLst>
              <a:ext uri="{FF2B5EF4-FFF2-40B4-BE49-F238E27FC236}">
                <a16:creationId xmlns:a16="http://schemas.microsoft.com/office/drawing/2014/main" id="{0C05069E-D0E1-4BD0-A5BE-A77070C82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4267" y="3238239"/>
            <a:ext cx="4292123" cy="381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6288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55640651-BC9D-4E5B-8877-7BABF2E3F5E1}"/>
              </a:ext>
            </a:extLst>
          </p:cNvPr>
          <p:cNvGrpSpPr/>
          <p:nvPr/>
        </p:nvGrpSpPr>
        <p:grpSpPr>
          <a:xfrm>
            <a:off x="2743201" y="2520338"/>
            <a:ext cx="9051582" cy="4043300"/>
            <a:chOff x="367990" y="1681095"/>
            <a:chExt cx="11297452" cy="3704176"/>
          </a:xfrm>
        </p:grpSpPr>
        <p:pic>
          <p:nvPicPr>
            <p:cNvPr id="4098" name="Picture 2" descr="https://4.bp.blogspot.com/-RJal8ByLtZw/V04HdXzk8XI/AAAAAAAAyt8/EyNTxWbIYPYtooQQDGw1XvrWGc67iDTWwCKgB/s400/20160531_175118.png">
              <a:extLst>
                <a:ext uri="{FF2B5EF4-FFF2-40B4-BE49-F238E27FC236}">
                  <a16:creationId xmlns:a16="http://schemas.microsoft.com/office/drawing/2014/main" id="{370B8EE0-658B-49E9-B271-7C08ED53B4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7990" y="1681095"/>
              <a:ext cx="5005643" cy="3704176"/>
            </a:xfrm>
            <a:prstGeom prst="rect">
              <a:avLst/>
            </a:prstGeom>
            <a:ln w="127000" cap="rnd">
              <a:solidFill>
                <a:srgbClr val="FFFFFF"/>
              </a:solidFill>
            </a:ln>
            <a:effectLst>
              <a:outerShdw blurRad="76200" dist="95250" dir="10500000" sx="97000" sy="23000" kx="900000" algn="br" rotWithShape="0">
                <a:srgbClr val="000000">
                  <a:alpha val="20000"/>
                </a:srgbClr>
              </a:outerShdw>
            </a:effectLst>
            <a:scene3d>
              <a:camera prst="orthographicFront"/>
              <a:lightRig rig="twoPt" dir="t">
                <a:rot lat="0" lon="0" rev="7800000"/>
              </a:lightRig>
            </a:scene3d>
            <a:sp3d contourW="6350">
              <a:bevelT w="50800" h="16510"/>
              <a:contourClr>
                <a:srgbClr val="C0C0C0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0" name="Picture 4" descr="https://2.bp.blogspot.com/-4RqRDG23RDs/V04Hga_z8qI/AAAAAAAAyuA/xe1jRGYY9JoZei6to_3FYZsLwAtLY6xEQCKgB/s400/20160531_175140.png">
              <a:extLst>
                <a:ext uri="{FF2B5EF4-FFF2-40B4-BE49-F238E27FC236}">
                  <a16:creationId xmlns:a16="http://schemas.microsoft.com/office/drawing/2014/main" id="{741AB14B-2057-43EB-B4D5-723E47078C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6542" y="1681095"/>
              <a:ext cx="4938900" cy="3704175"/>
            </a:xfrm>
            <a:prstGeom prst="rect">
              <a:avLst/>
            </a:prstGeom>
            <a:ln w="127000" cap="rnd">
              <a:solidFill>
                <a:srgbClr val="FFFFFF"/>
              </a:solidFill>
            </a:ln>
            <a:effectLst>
              <a:outerShdw blurRad="76200" dist="95250" dir="10500000" sx="97000" sy="23000" kx="900000" algn="br" rotWithShape="0">
                <a:srgbClr val="000000">
                  <a:alpha val="20000"/>
                </a:srgbClr>
              </a:outerShdw>
            </a:effectLst>
            <a:scene3d>
              <a:camera prst="orthographicFront"/>
              <a:lightRig rig="twoPt" dir="t">
                <a:rot lat="0" lon="0" rev="7800000"/>
              </a:lightRig>
            </a:scene3d>
            <a:sp3d contourW="6350">
              <a:bevelT w="50800" h="16510"/>
              <a:contourClr>
                <a:srgbClr val="C0C0C0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5" name="직선 화살표 연결선 4">
              <a:extLst>
                <a:ext uri="{FF2B5EF4-FFF2-40B4-BE49-F238E27FC236}">
                  <a16:creationId xmlns:a16="http://schemas.microsoft.com/office/drawing/2014/main" id="{549B71BC-DC41-4674-A078-57F8849727EB}"/>
                </a:ext>
              </a:extLst>
            </p:cNvPr>
            <p:cNvCxnSpPr/>
            <p:nvPr/>
          </p:nvCxnSpPr>
          <p:spPr>
            <a:xfrm>
              <a:off x="5523978" y="3429000"/>
              <a:ext cx="901874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80B9B0B-44E9-44EB-B867-C6BBA4FA05AB}"/>
              </a:ext>
            </a:extLst>
          </p:cNvPr>
          <p:cNvSpPr txBox="1"/>
          <p:nvPr/>
        </p:nvSpPr>
        <p:spPr>
          <a:xfrm>
            <a:off x="4505210" y="487157"/>
            <a:ext cx="3914890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ea typeface="돋움" panose="020B0600000101010101" pitchFamily="50" charset="-127"/>
              </a:rPr>
              <a:t>Convolution </a:t>
            </a:r>
            <a:r>
              <a:rPr lang="ko-KR" altLang="en-US" sz="3200" dirty="0">
                <a:ea typeface="돋움" panose="020B0600000101010101" pitchFamily="50" charset="-127"/>
              </a:rPr>
              <a:t>결과</a:t>
            </a:r>
          </a:p>
        </p:txBody>
      </p:sp>
      <p:pic>
        <p:nvPicPr>
          <p:cNvPr id="4102" name="Picture 6" descr="https://3.bp.blogspot.com/-V5WjS0u2IsM/VV-IkDjID5I/AAAAAAAAdaU/FQDW0sNhBME/s400/20150522_155034.png">
            <a:extLst>
              <a:ext uri="{FF2B5EF4-FFF2-40B4-BE49-F238E27FC236}">
                <a16:creationId xmlns:a16="http://schemas.microsoft.com/office/drawing/2014/main" id="{BBCC112A-4E40-4240-958F-55CA38B61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935" y="1336630"/>
            <a:ext cx="7297446" cy="3648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제목 1">
            <a:extLst>
              <a:ext uri="{FF2B5EF4-FFF2-40B4-BE49-F238E27FC236}">
                <a16:creationId xmlns:a16="http://schemas.microsoft.com/office/drawing/2014/main" id="{21608D0C-7642-40FA-9BA7-AB1F75198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935" y="11067"/>
            <a:ext cx="10515600" cy="1325563"/>
          </a:xfrm>
        </p:spPr>
        <p:txBody>
          <a:bodyPr/>
          <a:lstStyle/>
          <a:p>
            <a:r>
              <a:rPr lang="en-US" altLang="ko-KR" dirty="0"/>
              <a:t>3.2 CNN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0708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typical_cnn">
            <a:extLst>
              <a:ext uri="{FF2B5EF4-FFF2-40B4-BE49-F238E27FC236}">
                <a16:creationId xmlns:a16="http://schemas.microsoft.com/office/drawing/2014/main" id="{77691508-1D0E-4DBE-89A5-386E05D92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905" y="1938866"/>
            <a:ext cx="10169922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5F4308-B84A-4404-AEF4-4B742CEB7B71}"/>
              </a:ext>
            </a:extLst>
          </p:cNvPr>
          <p:cNvSpPr txBox="1"/>
          <p:nvPr/>
        </p:nvSpPr>
        <p:spPr>
          <a:xfrm>
            <a:off x="1222905" y="5497287"/>
            <a:ext cx="10169923" cy="9541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800" dirty="0">
                <a:ea typeface="돋움" panose="020B0600000101010101" pitchFamily="50" charset="-127"/>
              </a:rPr>
              <a:t>가중치 </a:t>
            </a:r>
            <a:r>
              <a:rPr lang="en-US" altLang="ko-KR" sz="2800" dirty="0">
                <a:ea typeface="돋움" panose="020B0600000101010101" pitchFamily="50" charset="-127"/>
              </a:rPr>
              <a:t>-&gt; </a:t>
            </a:r>
            <a:r>
              <a:rPr lang="ko-KR" altLang="en-US" sz="2800" dirty="0">
                <a:ea typeface="돋움" panose="020B0600000101010101" pitchFamily="50" charset="-127"/>
              </a:rPr>
              <a:t>필터 </a:t>
            </a:r>
            <a:r>
              <a:rPr lang="en-US" altLang="ko-KR" sz="2800" dirty="0">
                <a:ea typeface="돋움" panose="020B0600000101010101" pitchFamily="50" charset="-127"/>
              </a:rPr>
              <a:t>or </a:t>
            </a:r>
            <a:r>
              <a:rPr lang="ko-KR" altLang="en-US" sz="2800" dirty="0">
                <a:ea typeface="돋움" panose="020B0600000101010101" pitchFamily="50" charset="-127"/>
              </a:rPr>
              <a:t>커널</a:t>
            </a:r>
            <a:endParaRPr lang="en-US" altLang="ko-KR" sz="2800" dirty="0">
              <a:ea typeface="돋움" panose="020B0600000101010101" pitchFamily="50" charset="-127"/>
            </a:endParaRPr>
          </a:p>
          <a:p>
            <a:pPr algn="just"/>
            <a:r>
              <a:rPr lang="ko-KR" altLang="en-US" sz="2800" dirty="0">
                <a:ea typeface="돋움" panose="020B0600000101010101" pitchFamily="50" charset="-127"/>
              </a:rPr>
              <a:t>필터를 통해 만들어진 </a:t>
            </a:r>
            <a:r>
              <a:rPr lang="ko-KR" altLang="en-US" sz="2800" dirty="0" err="1">
                <a:ea typeface="돋움" panose="020B0600000101010101" pitchFamily="50" charset="-127"/>
              </a:rPr>
              <a:t>히든</a:t>
            </a:r>
            <a:r>
              <a:rPr lang="ko-KR" altLang="en-US" sz="2800" dirty="0">
                <a:ea typeface="돋움" panose="020B0600000101010101" pitchFamily="50" charset="-127"/>
              </a:rPr>
              <a:t> 레이어의 행렬 </a:t>
            </a:r>
            <a:r>
              <a:rPr lang="en-US" altLang="ko-KR" sz="2800" dirty="0">
                <a:ea typeface="돋움" panose="020B0600000101010101" pitchFamily="50" charset="-127"/>
              </a:rPr>
              <a:t>-&gt; feature</a:t>
            </a:r>
            <a:r>
              <a:rPr lang="ko-KR" altLang="en-US" sz="2800" dirty="0">
                <a:ea typeface="돋움" panose="020B0600000101010101" pitchFamily="50" charset="-127"/>
              </a:rPr>
              <a:t> </a:t>
            </a:r>
            <a:r>
              <a:rPr lang="en-US" altLang="ko-KR" sz="2800" dirty="0">
                <a:ea typeface="돋움" panose="020B0600000101010101" pitchFamily="50" charset="-127"/>
              </a:rPr>
              <a:t>Map</a:t>
            </a:r>
            <a:endParaRPr lang="ko-KR" altLang="en-US" sz="2800" dirty="0">
              <a:ea typeface="돋움" panose="020B0600000101010101" pitchFamily="50" charset="-127"/>
            </a:endParaRPr>
          </a:p>
        </p:txBody>
      </p:sp>
      <p:sp>
        <p:nvSpPr>
          <p:cNvPr id="4" name="설명선: 굽은 선 3">
            <a:extLst>
              <a:ext uri="{FF2B5EF4-FFF2-40B4-BE49-F238E27FC236}">
                <a16:creationId xmlns:a16="http://schemas.microsoft.com/office/drawing/2014/main" id="{6D2B4777-EDA5-4140-99D0-2A89670FC057}"/>
              </a:ext>
            </a:extLst>
          </p:cNvPr>
          <p:cNvSpPr/>
          <p:nvPr/>
        </p:nvSpPr>
        <p:spPr>
          <a:xfrm>
            <a:off x="6096000" y="990600"/>
            <a:ext cx="3200400" cy="787606"/>
          </a:xfrm>
          <a:prstGeom prst="borderCallout2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ea typeface="돋움" panose="020B0600000101010101" pitchFamily="50" charset="-127"/>
              </a:rPr>
              <a:t>2</a:t>
            </a:r>
            <a:r>
              <a:rPr lang="ko-KR" altLang="en-US" sz="2400" dirty="0">
                <a:solidFill>
                  <a:schemeClr val="tx1"/>
                </a:solidFill>
                <a:ea typeface="돋움" panose="020B0600000101010101" pitchFamily="50" charset="-127"/>
              </a:rPr>
              <a:t>차원의 </a:t>
            </a:r>
            <a:r>
              <a:rPr lang="ko-KR" altLang="en-US" sz="2400" dirty="0" err="1">
                <a:solidFill>
                  <a:schemeClr val="tx1"/>
                </a:solidFill>
                <a:ea typeface="돋움" panose="020B0600000101010101" pitchFamily="50" charset="-127"/>
              </a:rPr>
              <a:t>맵이</a:t>
            </a:r>
            <a:r>
              <a:rPr lang="ko-KR" altLang="en-US" sz="2400" dirty="0">
                <a:solidFill>
                  <a:schemeClr val="tx1"/>
                </a:solidFill>
                <a:ea typeface="돋움" panose="020B0600000101010101" pitchFamily="50" charset="-127"/>
              </a:rPr>
              <a:t> 쌓임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95F8747B-D058-4967-B709-6BCB81614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695" y="156063"/>
            <a:ext cx="10515600" cy="1325563"/>
          </a:xfrm>
        </p:spPr>
        <p:txBody>
          <a:bodyPr/>
          <a:lstStyle/>
          <a:p>
            <a:r>
              <a:rPr lang="en-US" altLang="ko-KR" dirty="0"/>
              <a:t>3.3 CNN</a:t>
            </a:r>
            <a:r>
              <a:rPr lang="ko-KR" altLang="en-US" dirty="0"/>
              <a:t>의 구조</a:t>
            </a:r>
          </a:p>
        </p:txBody>
      </p:sp>
    </p:spTree>
    <p:extLst>
      <p:ext uri="{BB962C8B-B14F-4D97-AF65-F5344CB8AC3E}">
        <p14:creationId xmlns:p14="http://schemas.microsoft.com/office/powerpoint/2010/main" val="3146440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74E536CA-BDAA-4B29-B8EE-2AE8134ECB88}"/>
              </a:ext>
            </a:extLst>
          </p:cNvPr>
          <p:cNvGrpSpPr/>
          <p:nvPr/>
        </p:nvGrpSpPr>
        <p:grpSpPr>
          <a:xfrm>
            <a:off x="2663825" y="1384240"/>
            <a:ext cx="8139642" cy="4660960"/>
            <a:chOff x="2663825" y="1384240"/>
            <a:chExt cx="8139642" cy="4660960"/>
          </a:xfrm>
        </p:grpSpPr>
        <p:pic>
          <p:nvPicPr>
            <p:cNvPr id="11266" name="Picture 2" descr="depthcol">
              <a:extLst>
                <a:ext uri="{FF2B5EF4-FFF2-40B4-BE49-F238E27FC236}">
                  <a16:creationId xmlns:a16="http://schemas.microsoft.com/office/drawing/2014/main" id="{34440DF5-3985-4276-AFD4-6CBAFC13CF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3825" y="1384240"/>
              <a:ext cx="5814483" cy="40895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설명선: 굽은 선 4">
              <a:extLst>
                <a:ext uri="{FF2B5EF4-FFF2-40B4-BE49-F238E27FC236}">
                  <a16:creationId xmlns:a16="http://schemas.microsoft.com/office/drawing/2014/main" id="{C21BC309-EC28-4571-B10A-BECE8F7735F2}"/>
                </a:ext>
              </a:extLst>
            </p:cNvPr>
            <p:cNvSpPr/>
            <p:nvPr/>
          </p:nvSpPr>
          <p:spPr>
            <a:xfrm>
              <a:off x="7958666" y="1989547"/>
              <a:ext cx="2844801" cy="715493"/>
            </a:xfrm>
            <a:prstGeom prst="borderCallout2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solidFill>
                    <a:schemeClr val="tx1"/>
                  </a:solidFill>
                  <a:ea typeface="돋움" panose="020B0600000101010101" pitchFamily="50" charset="-127"/>
                </a:rPr>
                <a:t>다중 필터</a:t>
              </a:r>
            </a:p>
          </p:txBody>
        </p:sp>
        <p:sp>
          <p:nvSpPr>
            <p:cNvPr id="7" name="설명선: 굽은 선 6">
              <a:extLst>
                <a:ext uri="{FF2B5EF4-FFF2-40B4-BE49-F238E27FC236}">
                  <a16:creationId xmlns:a16="http://schemas.microsoft.com/office/drawing/2014/main" id="{DAF8B0AD-E14F-4BAE-B850-C8A2FC7764BB}"/>
                </a:ext>
              </a:extLst>
            </p:cNvPr>
            <p:cNvSpPr/>
            <p:nvPr/>
          </p:nvSpPr>
          <p:spPr>
            <a:xfrm>
              <a:off x="3945465" y="5473760"/>
              <a:ext cx="1625601" cy="571440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-6031"/>
                <a:gd name="adj6" fmla="val -56042"/>
              </a:avLst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solidFill>
                    <a:schemeClr val="tx1"/>
                  </a:solidFill>
                  <a:ea typeface="돋움" panose="020B0600000101010101" pitchFamily="50" charset="-127"/>
                </a:rPr>
                <a:t>RGB</a:t>
              </a:r>
              <a:endParaRPr lang="ko-KR" altLang="en-US" sz="2400" dirty="0">
                <a:solidFill>
                  <a:schemeClr val="tx1"/>
                </a:solidFill>
                <a:ea typeface="돋움" panose="020B0600000101010101" pitchFamily="50" charset="-127"/>
              </a:endParaRPr>
            </a:p>
          </p:txBody>
        </p:sp>
      </p:grpSp>
      <p:sp>
        <p:nvSpPr>
          <p:cNvPr id="9" name="제목 1">
            <a:extLst>
              <a:ext uri="{FF2B5EF4-FFF2-40B4-BE49-F238E27FC236}">
                <a16:creationId xmlns:a16="http://schemas.microsoft.com/office/drawing/2014/main" id="{5D23543E-2CDE-4560-8750-54C168D8C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695" y="156063"/>
            <a:ext cx="10515600" cy="1325563"/>
          </a:xfrm>
        </p:spPr>
        <p:txBody>
          <a:bodyPr/>
          <a:lstStyle/>
          <a:p>
            <a:r>
              <a:rPr lang="en-US" altLang="ko-KR" dirty="0"/>
              <a:t>3.3 CNN</a:t>
            </a:r>
            <a:r>
              <a:rPr lang="ko-KR" altLang="en-US" dirty="0"/>
              <a:t>의 구조</a:t>
            </a:r>
          </a:p>
        </p:txBody>
      </p:sp>
    </p:spTree>
    <p:extLst>
      <p:ext uri="{BB962C8B-B14F-4D97-AF65-F5344CB8AC3E}">
        <p14:creationId xmlns:p14="http://schemas.microsoft.com/office/powerpoint/2010/main" val="2645551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21D8C0-9BA0-4E5F-A580-E8CF7658F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CNN</a:t>
            </a:r>
            <a:r>
              <a:rPr lang="ko-KR" altLang="en-US" dirty="0"/>
              <a:t>의 구조</a:t>
            </a:r>
          </a:p>
        </p:txBody>
      </p:sp>
      <p:pic>
        <p:nvPicPr>
          <p:cNvPr id="3074" name="Picture 2" descr="https://3.bp.blogspot.com/--uCpIlvfnUY/Vu1Ww-_Q8zI/AAAAAAAAAKs/LYPX-C2_jOoHO0QABpCe9usfgWbtZRf9g/s400/2.PNG">
            <a:extLst>
              <a:ext uri="{FF2B5EF4-FFF2-40B4-BE49-F238E27FC236}">
                <a16:creationId xmlns:a16="http://schemas.microsoft.com/office/drawing/2014/main" id="{5BD39401-25A3-4844-99F9-A3D7C42E5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181" y="1511874"/>
            <a:ext cx="6882936" cy="4199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3427DFB-2F4F-4654-8A66-40DC2951A98E}"/>
              </a:ext>
            </a:extLst>
          </p:cNvPr>
          <p:cNvSpPr/>
          <p:nvPr/>
        </p:nvSpPr>
        <p:spPr>
          <a:xfrm>
            <a:off x="481692" y="1988467"/>
            <a:ext cx="469155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altLang="ko-KR" sz="2400" b="1" i="0" dirty="0">
                <a:solidFill>
                  <a:srgbClr val="666666"/>
                </a:solidFill>
                <a:effectLst/>
                <a:latin typeface="Trebuchet MS" panose="020B0603020202020204" pitchFamily="34" charset="0"/>
                <a:ea typeface="돋움" panose="020B0600000101010101" pitchFamily="50" charset="-127"/>
              </a:rPr>
              <a:t>Convolution layer : </a:t>
            </a:r>
            <a:r>
              <a:rPr lang="en-US" altLang="ko-KR" sz="2400" b="0" i="0" dirty="0">
                <a:solidFill>
                  <a:srgbClr val="666666"/>
                </a:solidFill>
                <a:effectLst/>
                <a:latin typeface="Trebuchet MS" panose="020B0603020202020204" pitchFamily="34" charset="0"/>
                <a:ea typeface="돋움" panose="020B0600000101010101" pitchFamily="50" charset="-127"/>
              </a:rPr>
              <a:t>Convolution feature</a:t>
            </a:r>
            <a:r>
              <a:rPr lang="ko-KR" altLang="en-US" sz="2400" b="0" i="0" dirty="0">
                <a:solidFill>
                  <a:srgbClr val="666666"/>
                </a:solidFill>
                <a:effectLst/>
                <a:latin typeface="Trebuchet MS" panose="020B0603020202020204" pitchFamily="34" charset="0"/>
                <a:ea typeface="돋움" panose="020B0600000101010101" pitchFamily="50" charset="-127"/>
              </a:rPr>
              <a:t>를 추출하는 </a:t>
            </a:r>
            <a:r>
              <a:rPr lang="en-US" altLang="ko-KR" sz="2400" b="0" i="0" dirty="0">
                <a:solidFill>
                  <a:srgbClr val="666666"/>
                </a:solidFill>
                <a:effectLst/>
                <a:latin typeface="Trebuchet MS" panose="020B0603020202020204" pitchFamily="34" charset="0"/>
                <a:ea typeface="돋움" panose="020B0600000101010101" pitchFamily="50" charset="-127"/>
              </a:rPr>
              <a:t>layer</a:t>
            </a:r>
          </a:p>
          <a:p>
            <a:pPr>
              <a:buFont typeface="+mj-lt"/>
              <a:buAutoNum type="arabicPeriod"/>
            </a:pPr>
            <a:r>
              <a:rPr lang="en-US" altLang="ko-KR" sz="2400" b="0" i="0" dirty="0">
                <a:solidFill>
                  <a:srgbClr val="666666"/>
                </a:solidFill>
                <a:effectLst/>
                <a:latin typeface="Trebuchet MS" panose="020B0603020202020204" pitchFamily="34" charset="0"/>
                <a:ea typeface="돋움" panose="020B0600000101010101" pitchFamily="50" charset="-127"/>
              </a:rPr>
              <a:t>Pooling(</a:t>
            </a:r>
            <a:r>
              <a:rPr lang="en-US" altLang="ko-KR" sz="2400" dirty="0">
                <a:solidFill>
                  <a:srgbClr val="666666"/>
                </a:solidFill>
                <a:latin typeface="Trebuchet MS" panose="020B0603020202020204" pitchFamily="34" charset="0"/>
                <a:ea typeface="돋움" panose="020B0600000101010101" pitchFamily="50" charset="-127"/>
              </a:rPr>
              <a:t>subsampling</a:t>
            </a:r>
            <a:r>
              <a:rPr lang="en-US" altLang="ko-KR" sz="2400" b="0" i="0" dirty="0">
                <a:solidFill>
                  <a:srgbClr val="666666"/>
                </a:solidFill>
                <a:effectLst/>
                <a:latin typeface="Trebuchet MS" panose="020B0603020202020204" pitchFamily="34" charset="0"/>
                <a:ea typeface="돋움" panose="020B0600000101010101" pitchFamily="50" charset="-127"/>
              </a:rPr>
              <a:t>) layer </a:t>
            </a:r>
          </a:p>
          <a:p>
            <a:pPr>
              <a:buFont typeface="+mj-lt"/>
              <a:buAutoNum type="arabicPeriod"/>
            </a:pPr>
            <a:endParaRPr lang="en-US" altLang="ko-KR" sz="2400" dirty="0">
              <a:solidFill>
                <a:srgbClr val="666666"/>
              </a:solidFill>
              <a:latin typeface="Trebuchet MS" panose="020B0603020202020204" pitchFamily="34" charset="0"/>
              <a:ea typeface="돋움" panose="020B0600000101010101" pitchFamily="50" charset="-127"/>
            </a:endParaRPr>
          </a:p>
          <a:p>
            <a:pPr>
              <a:buFont typeface="+mj-lt"/>
              <a:buAutoNum type="arabicPeriod"/>
            </a:pPr>
            <a:r>
              <a:rPr lang="en-US" altLang="ko-KR" sz="2400" b="0" i="0" dirty="0">
                <a:solidFill>
                  <a:srgbClr val="666666"/>
                </a:solidFill>
                <a:effectLst/>
                <a:latin typeface="Trebuchet MS" panose="020B0603020202020204" pitchFamily="34" charset="0"/>
                <a:ea typeface="돋움" panose="020B0600000101010101" pitchFamily="50" charset="-127"/>
              </a:rPr>
              <a:t>Feedforward layer</a:t>
            </a:r>
          </a:p>
        </p:txBody>
      </p:sp>
    </p:spTree>
    <p:extLst>
      <p:ext uri="{BB962C8B-B14F-4D97-AF65-F5344CB8AC3E}">
        <p14:creationId xmlns:p14="http://schemas.microsoft.com/office/powerpoint/2010/main" val="482938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2262333A-DA64-4044-856A-99E63A224906}"/>
              </a:ext>
            </a:extLst>
          </p:cNvPr>
          <p:cNvGrpSpPr/>
          <p:nvPr/>
        </p:nvGrpSpPr>
        <p:grpSpPr>
          <a:xfrm>
            <a:off x="5726087" y="1399382"/>
            <a:ext cx="6096000" cy="3585978"/>
            <a:chOff x="1497903" y="1350107"/>
            <a:chExt cx="7768875" cy="4059237"/>
          </a:xfrm>
        </p:grpSpPr>
        <p:pic>
          <p:nvPicPr>
            <p:cNvPr id="5" name="Picture 4" descr="https://2.bp.blogspot.com/-jnY4Ot3XDpY/V04LuiulEzI/AAAAAAAAyug/gd3tJLWj3Aw9H56Gz7opkTBxJrXbkM5RgCKgB/s400/Screen-Shot-2015-11-05-at-2.18.38-PM.png">
              <a:extLst>
                <a:ext uri="{FF2B5EF4-FFF2-40B4-BE49-F238E27FC236}">
                  <a16:creationId xmlns:a16="http://schemas.microsoft.com/office/drawing/2014/main" id="{27DD3D3A-384A-4572-9BD8-EC6EA831CE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7903" y="1350107"/>
              <a:ext cx="7768875" cy="4059237"/>
            </a:xfrm>
            <a:prstGeom prst="rect">
              <a:avLst/>
            </a:prstGeom>
            <a:ln w="190500" cap="sq">
              <a:solidFill>
                <a:srgbClr val="C8C6BD"/>
              </a:solidFill>
              <a:prstDash val="solid"/>
              <a:miter lim="800000"/>
            </a:ln>
            <a:effectLst>
              <a:outerShdw blurRad="254000" algn="bl" rotWithShape="0">
                <a:srgbClr val="000000">
                  <a:alpha val="43000"/>
                </a:srgbClr>
              </a:outerShdw>
            </a:effectLst>
            <a:scene3d>
              <a:camera prst="perspectiveFront" fov="5400000"/>
              <a:lightRig rig="threePt" dir="t">
                <a:rot lat="0" lon="0" rev="2100000"/>
              </a:lightRig>
            </a:scene3d>
            <a:sp3d extrusionH="25400">
              <a:bevelT w="304800" h="152400" prst="hardEdge"/>
              <a:extrusionClr>
                <a:srgbClr val="000000"/>
              </a:extrusion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12A7434-2792-4850-BA2C-AA2AE911F1CC}"/>
                </a:ext>
              </a:extLst>
            </p:cNvPr>
            <p:cNvSpPr txBox="1"/>
            <p:nvPr/>
          </p:nvSpPr>
          <p:spPr>
            <a:xfrm>
              <a:off x="5795142" y="1690688"/>
              <a:ext cx="3010098" cy="59227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dirty="0">
                  <a:ea typeface="돋움" panose="020B0600000101010101" pitchFamily="50" charset="-127"/>
                </a:rPr>
                <a:t>Max</a:t>
              </a:r>
              <a:r>
                <a:rPr lang="ko-KR" altLang="en-US" sz="2800" dirty="0">
                  <a:ea typeface="돋움" panose="020B0600000101010101" pitchFamily="50" charset="-127"/>
                </a:rPr>
                <a:t> </a:t>
              </a:r>
              <a:r>
                <a:rPr lang="en-US" altLang="ko-KR" sz="2800" dirty="0">
                  <a:ea typeface="돋움" panose="020B0600000101010101" pitchFamily="50" charset="-127"/>
                </a:rPr>
                <a:t>pooling</a:t>
              </a:r>
              <a:endParaRPr lang="ko-KR" altLang="en-US" sz="2800" dirty="0">
                <a:ea typeface="돋움" panose="020B0600000101010101" pitchFamily="50" charset="-127"/>
              </a:endParaRP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74A0C6-9267-4AA1-B9CC-5537479ACD16}"/>
              </a:ext>
            </a:extLst>
          </p:cNvPr>
          <p:cNvSpPr/>
          <p:nvPr/>
        </p:nvSpPr>
        <p:spPr>
          <a:xfrm>
            <a:off x="369913" y="1796799"/>
            <a:ext cx="4994019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altLang="ko-KR" sz="2400" dirty="0">
                <a:solidFill>
                  <a:srgbClr val="666666"/>
                </a:solidFill>
                <a:latin typeface="Trebuchet MS" panose="020B0603020202020204" pitchFamily="34" charset="0"/>
                <a:ea typeface="돋움" panose="020B0600000101010101" pitchFamily="50" charset="-127"/>
              </a:rPr>
              <a:t>Convolution layer </a:t>
            </a:r>
          </a:p>
          <a:p>
            <a:pPr marL="457200" indent="-457200">
              <a:buAutoNum type="arabicPeriod"/>
            </a:pPr>
            <a:endParaRPr lang="en-US" altLang="ko-KR" sz="2400" i="0" dirty="0">
              <a:solidFill>
                <a:srgbClr val="666666"/>
              </a:solidFill>
              <a:effectLst/>
              <a:latin typeface="Trebuchet MS" panose="020B0603020202020204" pitchFamily="34" charset="0"/>
              <a:ea typeface="돋움" panose="020B0600000101010101" pitchFamily="50" charset="-127"/>
            </a:endParaRPr>
          </a:p>
          <a:p>
            <a:r>
              <a:rPr lang="en-US" altLang="ko-KR" sz="2400" b="1" i="0" dirty="0">
                <a:solidFill>
                  <a:srgbClr val="666666"/>
                </a:solidFill>
                <a:effectLst/>
                <a:latin typeface="Trebuchet MS" panose="020B0603020202020204" pitchFamily="34" charset="0"/>
                <a:ea typeface="돋움" panose="020B0600000101010101" pitchFamily="50" charset="-127"/>
              </a:rPr>
              <a:t>2. Pooling Layer : </a:t>
            </a:r>
            <a:r>
              <a:rPr lang="ko-KR" altLang="en-US" sz="2400" i="0" dirty="0">
                <a:solidFill>
                  <a:srgbClr val="666666"/>
                </a:solidFill>
                <a:effectLst/>
                <a:latin typeface="Trebuchet MS" panose="020B0603020202020204" pitchFamily="34" charset="0"/>
                <a:ea typeface="돋움" panose="020B0600000101010101" pitchFamily="50" charset="-127"/>
              </a:rPr>
              <a:t>활성화 함수를 거쳐 나온 출력 </a:t>
            </a:r>
            <a:r>
              <a:rPr lang="ko-KR" altLang="en-US" sz="2400" i="0" dirty="0" err="1">
                <a:solidFill>
                  <a:srgbClr val="666666"/>
                </a:solidFill>
                <a:effectLst/>
                <a:latin typeface="Trebuchet MS" panose="020B0603020202020204" pitchFamily="34" charset="0"/>
                <a:ea typeface="돋움" panose="020B0600000101010101" pitchFamily="50" charset="-127"/>
              </a:rPr>
              <a:t>맵을</a:t>
            </a:r>
            <a:r>
              <a:rPr lang="ko-KR" altLang="en-US" sz="2400" i="0" dirty="0">
                <a:solidFill>
                  <a:srgbClr val="666666"/>
                </a:solidFill>
                <a:effectLst/>
                <a:latin typeface="Trebuchet MS" panose="020B0603020202020204" pitchFamily="34" charset="0"/>
                <a:ea typeface="돋움" panose="020B0600000101010101" pitchFamily="50" charset="-127"/>
              </a:rPr>
              <a:t> </a:t>
            </a:r>
            <a:r>
              <a:rPr lang="en-US" altLang="ko-KR" sz="2400" b="0" i="0" dirty="0">
                <a:solidFill>
                  <a:srgbClr val="666666"/>
                </a:solidFill>
                <a:effectLst/>
                <a:latin typeface="Trebuchet MS" panose="020B0603020202020204" pitchFamily="34" charset="0"/>
                <a:ea typeface="돋움" panose="020B0600000101010101" pitchFamily="50" charset="-127"/>
              </a:rPr>
              <a:t>subsampling</a:t>
            </a:r>
            <a:r>
              <a:rPr lang="ko-KR" altLang="en-US" sz="2400" b="0" i="0" dirty="0">
                <a:solidFill>
                  <a:srgbClr val="666666"/>
                </a:solidFill>
                <a:effectLst/>
                <a:latin typeface="Trebuchet MS" panose="020B0603020202020204" pitchFamily="34" charset="0"/>
                <a:ea typeface="돋움" panose="020B0600000101010101" pitchFamily="50" charset="-127"/>
              </a:rPr>
              <a:t>을 하며 크기도 줄이고 특징을 살려 효과적인 </a:t>
            </a:r>
            <a:r>
              <a:rPr lang="en-US" altLang="ko-KR" sz="2400" b="0" i="0" dirty="0">
                <a:solidFill>
                  <a:srgbClr val="666666"/>
                </a:solidFill>
                <a:effectLst/>
                <a:latin typeface="Trebuchet MS" panose="020B0603020202020204" pitchFamily="34" charset="0"/>
                <a:ea typeface="돋움" panose="020B0600000101010101" pitchFamily="50" charset="-127"/>
              </a:rPr>
              <a:t>data</a:t>
            </a:r>
            <a:r>
              <a:rPr lang="ko-KR" altLang="en-US" sz="2400" b="0" i="0" dirty="0">
                <a:solidFill>
                  <a:srgbClr val="666666"/>
                </a:solidFill>
                <a:effectLst/>
                <a:latin typeface="Trebuchet MS" panose="020B0603020202020204" pitchFamily="34" charset="0"/>
                <a:ea typeface="돋움" panose="020B0600000101010101" pitchFamily="50" charset="-127"/>
              </a:rPr>
              <a:t>로 만드는 과정</a:t>
            </a:r>
            <a:endParaRPr lang="en-US" altLang="ko-KR" sz="2400" b="0" i="0" dirty="0">
              <a:solidFill>
                <a:srgbClr val="666666"/>
              </a:solidFill>
              <a:effectLst/>
              <a:latin typeface="Trebuchet MS" panose="020B0603020202020204" pitchFamily="34" charset="0"/>
              <a:ea typeface="돋움" panose="020B0600000101010101" pitchFamily="50" charset="-127"/>
            </a:endParaRPr>
          </a:p>
          <a:p>
            <a:endParaRPr lang="en-US" altLang="ko-KR" sz="2400" b="0" i="0" dirty="0">
              <a:solidFill>
                <a:srgbClr val="666666"/>
              </a:solidFill>
              <a:effectLst/>
              <a:latin typeface="Trebuchet MS" panose="020B0603020202020204" pitchFamily="34" charset="0"/>
              <a:ea typeface="돋움" panose="020B0600000101010101" pitchFamily="50" charset="-127"/>
            </a:endParaRPr>
          </a:p>
          <a:p>
            <a:r>
              <a:rPr lang="en-US" altLang="ko-KR" sz="2400" b="0" i="0" dirty="0">
                <a:solidFill>
                  <a:srgbClr val="666666"/>
                </a:solidFill>
                <a:effectLst/>
                <a:latin typeface="Trebuchet MS" panose="020B0603020202020204" pitchFamily="34" charset="0"/>
                <a:ea typeface="돋움" panose="020B0600000101010101" pitchFamily="50" charset="-127"/>
              </a:rPr>
              <a:t>3. Feedforward layer : </a:t>
            </a:r>
            <a:r>
              <a:rPr lang="en-US" altLang="ko-KR" sz="2400" dirty="0">
                <a:ea typeface="돋움" panose="020B0600000101010101" pitchFamily="50" charset="-127"/>
              </a:rPr>
              <a:t>convolution layer</a:t>
            </a:r>
            <a:r>
              <a:rPr lang="ko-KR" altLang="en-US" sz="2400" dirty="0">
                <a:ea typeface="돋움" panose="020B0600000101010101" pitchFamily="50" charset="-127"/>
              </a:rPr>
              <a:t>와 </a:t>
            </a:r>
            <a:r>
              <a:rPr lang="en-US" altLang="ko-KR" sz="2400" dirty="0">
                <a:ea typeface="돋움" panose="020B0600000101010101" pitchFamily="50" charset="-127"/>
              </a:rPr>
              <a:t>pooling layer</a:t>
            </a:r>
            <a:r>
              <a:rPr lang="ko-KR" altLang="en-US" sz="2400" dirty="0">
                <a:ea typeface="돋움" panose="020B0600000101010101" pitchFamily="50" charset="-127"/>
              </a:rPr>
              <a:t>에서 나온 </a:t>
            </a:r>
            <a:r>
              <a:rPr lang="en-US" altLang="ko-KR" sz="2400" dirty="0">
                <a:ea typeface="돋움" panose="020B0600000101010101" pitchFamily="50" charset="-127"/>
              </a:rPr>
              <a:t>feature</a:t>
            </a:r>
            <a:r>
              <a:rPr lang="ko-KR" altLang="en-US" sz="2400" dirty="0">
                <a:ea typeface="돋움" panose="020B0600000101010101" pitchFamily="50" charset="-127"/>
              </a:rPr>
              <a:t>를 이용해서 분류를 하는 층이다</a:t>
            </a:r>
            <a:r>
              <a:rPr lang="en-US" altLang="ko-KR" sz="2400" dirty="0">
                <a:ea typeface="돋움" panose="020B0600000101010101" pitchFamily="50" charset="-127"/>
              </a:rPr>
              <a:t>.</a:t>
            </a:r>
            <a:endParaRPr lang="en-US" altLang="ko-KR" sz="2400" b="0" i="0" dirty="0">
              <a:solidFill>
                <a:srgbClr val="666666"/>
              </a:solidFill>
              <a:effectLst/>
              <a:latin typeface="Trebuchet MS" panose="020B0603020202020204" pitchFamily="34" charset="0"/>
              <a:ea typeface="돋움" panose="020B0600000101010101" pitchFamily="50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BA907BAF-E837-4347-B0FD-4E6C34273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CNN</a:t>
            </a:r>
            <a:r>
              <a:rPr lang="ko-KR" altLang="en-US" dirty="0"/>
              <a:t>의 구조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5E8971B-CF16-493A-A7C2-7AF9509FA901}"/>
              </a:ext>
            </a:extLst>
          </p:cNvPr>
          <p:cNvSpPr/>
          <p:nvPr/>
        </p:nvSpPr>
        <p:spPr>
          <a:xfrm>
            <a:off x="6096000" y="5286233"/>
            <a:ext cx="49940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0" i="0" dirty="0">
                <a:solidFill>
                  <a:srgbClr val="666666"/>
                </a:solidFill>
                <a:effectLst/>
                <a:latin typeface="Trebuchet MS" panose="020B0603020202020204" pitchFamily="34" charset="0"/>
                <a:ea typeface="돋움" panose="020B0600000101010101" pitchFamily="50" charset="-127"/>
              </a:rPr>
              <a:t>MAX</a:t>
            </a:r>
            <a:r>
              <a:rPr lang="ko-KR" altLang="en-US" sz="2400" b="0" i="0" dirty="0">
                <a:solidFill>
                  <a:srgbClr val="666666"/>
                </a:solidFill>
                <a:effectLst/>
                <a:latin typeface="Trebuchet MS" panose="020B0603020202020204" pitchFamily="34" charset="0"/>
                <a:ea typeface="돋움" panose="020B0600000101010101" pitchFamily="50" charset="-127"/>
              </a:rPr>
              <a:t>와 </a:t>
            </a:r>
            <a:r>
              <a:rPr lang="en-US" altLang="ko-KR" sz="2400" b="0" i="0" dirty="0">
                <a:solidFill>
                  <a:srgbClr val="666666"/>
                </a:solidFill>
                <a:effectLst/>
                <a:latin typeface="Trebuchet MS" panose="020B0603020202020204" pitchFamily="34" charset="0"/>
                <a:ea typeface="돋움" panose="020B0600000101010101" pitchFamily="50" charset="-127"/>
              </a:rPr>
              <a:t>AVERAGE</a:t>
            </a:r>
            <a:r>
              <a:rPr lang="ko-KR" altLang="en-US" sz="2400" b="0" i="0" dirty="0">
                <a:solidFill>
                  <a:srgbClr val="666666"/>
                </a:solidFill>
                <a:effectLst/>
                <a:latin typeface="Trebuchet MS" panose="020B0603020202020204" pitchFamily="34" charset="0"/>
                <a:ea typeface="돋움" panose="020B0600000101010101" pitchFamily="50" charset="-127"/>
              </a:rPr>
              <a:t>가 있다</a:t>
            </a:r>
            <a:r>
              <a:rPr lang="en-US" altLang="ko-KR" sz="2400" b="0" i="0" dirty="0">
                <a:solidFill>
                  <a:srgbClr val="666666"/>
                </a:solidFill>
                <a:effectLst/>
                <a:latin typeface="Trebuchet MS" panose="020B0603020202020204" pitchFamily="34" charset="0"/>
                <a:ea typeface="돋움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0449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E0FF5D-74B7-4B5F-BC11-0E217530A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MLP(multilayer </a:t>
            </a:r>
            <a:r>
              <a:rPr lang="en-US" altLang="ko-KR" dirty="0" err="1"/>
              <a:t>Perceptrons</a:t>
            </a:r>
            <a:r>
              <a:rPr lang="en-US" altLang="ko-KR" dirty="0"/>
              <a:t>)</a:t>
            </a:r>
            <a:r>
              <a:rPr lang="ko-KR" altLang="en-US" dirty="0"/>
              <a:t>와 </a:t>
            </a:r>
            <a:r>
              <a:rPr lang="en-US" altLang="ko-KR" dirty="0"/>
              <a:t>CNN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E64D62-B594-4D00-A00F-83E50D4B4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176" y="3993629"/>
            <a:ext cx="5261674" cy="2499246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altLang="ko-KR" dirty="0"/>
              <a:t>input</a:t>
            </a:r>
            <a:r>
              <a:rPr lang="ko-KR" altLang="en-US" dirty="0"/>
              <a:t>을 받아 </a:t>
            </a:r>
            <a:r>
              <a:rPr lang="en-US" altLang="ko-KR" dirty="0"/>
              <a:t>y = </a:t>
            </a:r>
            <a:r>
              <a:rPr lang="en-US" altLang="ko-KR" dirty="0" err="1"/>
              <a:t>Wx+b</a:t>
            </a:r>
            <a:r>
              <a:rPr lang="en-US" altLang="ko-KR" dirty="0"/>
              <a:t> </a:t>
            </a:r>
            <a:r>
              <a:rPr lang="ko-KR" altLang="en-US" dirty="0"/>
              <a:t>계산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en-US" altLang="ko-KR" dirty="0"/>
              <a:t>Activation function </a:t>
            </a:r>
            <a:r>
              <a:rPr lang="ko-KR" altLang="en-US" dirty="0"/>
              <a:t>적용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3B76AE1F-B607-43A8-AC9B-F2F2A1965CD0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1747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ea typeface="돋움" panose="020B0600000101010101" pitchFamily="50" charset="-127"/>
              </a:rPr>
              <a:t>MLP : </a:t>
            </a:r>
            <a:r>
              <a:rPr lang="ko-KR" altLang="en-US" dirty="0">
                <a:ea typeface="돋움" panose="020B0600000101010101" pitchFamily="50" charset="-127"/>
              </a:rPr>
              <a:t>여러 단계를 거쳐 결정을 만들어 내는 선형 모델의 일반화 된 모습</a:t>
            </a:r>
            <a:r>
              <a:rPr lang="en-US" altLang="ko-KR" dirty="0">
                <a:ea typeface="돋움" panose="020B0600000101010101" pitchFamily="50" charset="-127"/>
              </a:rPr>
              <a:t>(</a:t>
            </a:r>
            <a:r>
              <a:rPr lang="ko-KR" altLang="en-US" dirty="0">
                <a:ea typeface="돋움" panose="020B0600000101010101" pitchFamily="50" charset="-127"/>
              </a:rPr>
              <a:t>가중치의 합</a:t>
            </a:r>
            <a:r>
              <a:rPr lang="en-US" altLang="ko-KR" dirty="0">
                <a:ea typeface="돋움" panose="020B0600000101010101" pitchFamily="50" charset="-127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>
                <a:ea typeface="돋움" panose="020B0600000101010101" pitchFamily="50" charset="-127"/>
              </a:rPr>
              <a:t>	</a:t>
            </a:r>
            <a:r>
              <a:rPr lang="pl-PL" altLang="ko-KR" dirty="0">
                <a:ea typeface="돋움" panose="020B0600000101010101" pitchFamily="50" charset="-127"/>
              </a:rPr>
              <a:t>ŷ = w[0] * x[0] + w[1] * x[1] + … + w[p] * x[p] = b</a:t>
            </a:r>
            <a:endParaRPr lang="en-US" altLang="ko-KR" dirty="0">
              <a:ea typeface="돋움" panose="020B0600000101010101" pitchFamily="50" charset="-127"/>
            </a:endParaRPr>
          </a:p>
        </p:txBody>
      </p:sp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F648F8FC-F0BC-415B-BC66-B0FCC6CF628B}"/>
              </a:ext>
            </a:extLst>
          </p:cNvPr>
          <p:cNvSpPr txBox="1">
            <a:spLocks/>
          </p:cNvSpPr>
          <p:nvPr/>
        </p:nvSpPr>
        <p:spPr>
          <a:xfrm>
            <a:off x="2396425" y="3481235"/>
            <a:ext cx="1055175" cy="5314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>
                <a:ea typeface="돋움" panose="020B0600000101010101" pitchFamily="50" charset="-127"/>
              </a:rPr>
              <a:t>MLP</a:t>
            </a:r>
          </a:p>
        </p:txBody>
      </p:sp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57AF8354-6DFF-4781-9C80-A94DEBA55CA1}"/>
              </a:ext>
            </a:extLst>
          </p:cNvPr>
          <p:cNvSpPr txBox="1">
            <a:spLocks/>
          </p:cNvSpPr>
          <p:nvPr/>
        </p:nvSpPr>
        <p:spPr>
          <a:xfrm>
            <a:off x="8190855" y="3508687"/>
            <a:ext cx="1055175" cy="13324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>
                <a:ea typeface="돋움" panose="020B0600000101010101" pitchFamily="50" charset="-127"/>
              </a:rPr>
              <a:t>CNN</a:t>
            </a: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2BF75314-0654-48AA-A657-CDBB0AD63E62}"/>
              </a:ext>
            </a:extLst>
          </p:cNvPr>
          <p:cNvSpPr txBox="1">
            <a:spLocks/>
          </p:cNvSpPr>
          <p:nvPr/>
        </p:nvSpPr>
        <p:spPr>
          <a:xfrm>
            <a:off x="5554850" y="4040122"/>
            <a:ext cx="6487333" cy="24527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altLang="ko-KR" dirty="0">
                <a:ea typeface="돋움" panose="020B0600000101010101" pitchFamily="50" charset="-127"/>
              </a:rPr>
              <a:t>input</a:t>
            </a:r>
            <a:r>
              <a:rPr lang="ko-KR" altLang="en-US" dirty="0">
                <a:ea typeface="돋움" panose="020B0600000101010101" pitchFamily="50" charset="-127"/>
              </a:rPr>
              <a:t>을 받아 </a:t>
            </a:r>
            <a:r>
              <a:rPr lang="en-US" altLang="ko-KR" dirty="0">
                <a:ea typeface="돋움" panose="020B0600000101010101" pitchFamily="50" charset="-127"/>
              </a:rPr>
              <a:t>y = </a:t>
            </a:r>
            <a:r>
              <a:rPr lang="en-US" altLang="ko-KR" dirty="0" err="1">
                <a:ea typeface="돋움" panose="020B0600000101010101" pitchFamily="50" charset="-127"/>
              </a:rPr>
              <a:t>Wx+b</a:t>
            </a:r>
            <a:r>
              <a:rPr lang="en-US" altLang="ko-KR" dirty="0">
                <a:ea typeface="돋움" panose="020B0600000101010101" pitchFamily="50" charset="-127"/>
              </a:rPr>
              <a:t> </a:t>
            </a:r>
            <a:r>
              <a:rPr lang="ko-KR" altLang="en-US" dirty="0">
                <a:ea typeface="돋움" panose="020B0600000101010101" pitchFamily="50" charset="-127"/>
              </a:rPr>
              <a:t>계산</a:t>
            </a:r>
            <a:endParaRPr lang="en-US" altLang="ko-KR" dirty="0">
              <a:ea typeface="돋움" panose="020B0600000101010101" pitchFamily="50" charset="-127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altLang="ko-KR" dirty="0">
                <a:ea typeface="돋움" panose="020B0600000101010101" pitchFamily="50" charset="-127"/>
              </a:rPr>
              <a:t>Convolution </a:t>
            </a:r>
            <a:r>
              <a:rPr lang="ko-KR" altLang="en-US" dirty="0">
                <a:ea typeface="돋움" panose="020B0600000101010101" pitchFamily="50" charset="-127"/>
              </a:rPr>
              <a:t>연산 </a:t>
            </a:r>
            <a:r>
              <a:rPr lang="en-US" altLang="ko-KR" dirty="0">
                <a:ea typeface="돋움" panose="020B0600000101010101" pitchFamily="50" charset="-127"/>
              </a:rPr>
              <a:t>W*X</a:t>
            </a:r>
            <a:r>
              <a:rPr lang="ko-KR" altLang="en-US" dirty="0">
                <a:ea typeface="돋움" panose="020B0600000101010101" pitchFamily="50" charset="-127"/>
              </a:rPr>
              <a:t> 적용 후 </a:t>
            </a:r>
            <a:r>
              <a:rPr lang="en-US" altLang="ko-KR" dirty="0">
                <a:ea typeface="돋움" panose="020B0600000101010101" pitchFamily="50" charset="-127"/>
              </a:rPr>
              <a:t>2D</a:t>
            </a:r>
            <a:r>
              <a:rPr lang="ko-KR" altLang="en-US" dirty="0">
                <a:ea typeface="돋움" panose="020B0600000101010101" pitchFamily="50" charset="-127"/>
              </a:rPr>
              <a:t>데이터 얻음</a:t>
            </a:r>
            <a:endParaRPr lang="en-US" altLang="ko-KR" dirty="0">
              <a:ea typeface="돋움" panose="020B0600000101010101" pitchFamily="50" charset="-127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altLang="ko-KR" dirty="0">
                <a:ea typeface="돋움" panose="020B0600000101010101" pitchFamily="50" charset="-127"/>
              </a:rPr>
              <a:t>Activation function </a:t>
            </a:r>
            <a:r>
              <a:rPr lang="ko-KR" altLang="en-US" dirty="0">
                <a:ea typeface="돋움" panose="020B0600000101010101" pitchFamily="50" charset="-127"/>
              </a:rPr>
              <a:t>적용</a:t>
            </a:r>
            <a:endParaRPr lang="en-US" altLang="ko-KR" dirty="0">
              <a:ea typeface="돋움" panose="020B0600000101010101" pitchFamily="50" charset="-127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altLang="ko-KR" dirty="0">
                <a:ea typeface="돋움" panose="020B0600000101010101" pitchFamily="50" charset="-127"/>
              </a:rPr>
              <a:t>Pooling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altLang="ko-KR" dirty="0">
                <a:ea typeface="돋움" panose="020B0600000101010101" pitchFamily="50" charset="-127"/>
              </a:rPr>
              <a:t>FFNN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dirty="0"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8288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A4EE8E1E-1DEB-4490-9A39-CED46F301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Deep </a:t>
            </a:r>
            <a:r>
              <a:rPr lang="en-US" altLang="ko-KR" dirty="0" err="1"/>
              <a:t>learnig</a:t>
            </a:r>
            <a:r>
              <a:rPr lang="ko-KR" altLang="en-US" dirty="0"/>
              <a:t>으로 돌아가서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pic>
        <p:nvPicPr>
          <p:cNvPr id="12290" name="Picture 2" descr="í¨ìì êµ¬ì¡°">
            <a:extLst>
              <a:ext uri="{FF2B5EF4-FFF2-40B4-BE49-F238E27FC236}">
                <a16:creationId xmlns:a16="http://schemas.microsoft.com/office/drawing/2014/main" id="{06E7B69D-AF96-4E09-8120-BB0E4255B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054" y="1933670"/>
            <a:ext cx="4608808" cy="4559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28E9888-8A6A-4B96-84AA-06E467F1A102}"/>
              </a:ext>
            </a:extLst>
          </p:cNvPr>
          <p:cNvSpPr/>
          <p:nvPr/>
        </p:nvSpPr>
        <p:spPr>
          <a:xfrm>
            <a:off x="6359781" y="2644170"/>
            <a:ext cx="499401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0" i="0" dirty="0">
                <a:effectLst/>
                <a:latin typeface="Trebuchet MS" panose="020B0603020202020204" pitchFamily="34" charset="0"/>
                <a:ea typeface="돋움" panose="020B0600000101010101" pitchFamily="50" charset="-127"/>
              </a:rPr>
              <a:t>Function</a:t>
            </a:r>
            <a:r>
              <a:rPr lang="ko-KR" altLang="en-US" sz="2400" dirty="0">
                <a:latin typeface="Trebuchet MS" panose="020B0603020202020204" pitchFamily="34" charset="0"/>
                <a:ea typeface="돋움" panose="020B0600000101010101" pitchFamily="50" charset="-127"/>
              </a:rPr>
              <a:t> </a:t>
            </a:r>
            <a:r>
              <a:rPr lang="en-US" altLang="ko-KR" sz="2400" dirty="0">
                <a:latin typeface="Trebuchet MS" panose="020B0603020202020204" pitchFamily="34" charset="0"/>
                <a:ea typeface="돋움" panose="020B0600000101010101" pitchFamily="50" charset="-127"/>
              </a:rPr>
              <a:t>=</a:t>
            </a:r>
            <a:r>
              <a:rPr lang="ko-KR" altLang="en-US" sz="2400" dirty="0">
                <a:latin typeface="Trebuchet MS" panose="020B0603020202020204" pitchFamily="34" charset="0"/>
                <a:ea typeface="돋움" panose="020B0600000101010101" pitchFamily="50" charset="-127"/>
              </a:rPr>
              <a:t> </a:t>
            </a:r>
            <a:r>
              <a:rPr lang="en-US" altLang="ko-KR" sz="2400" dirty="0">
                <a:latin typeface="Trebuchet MS" panose="020B0603020202020204" pitchFamily="34" charset="0"/>
                <a:ea typeface="돋움" panose="020B0600000101010101" pitchFamily="50" charset="-127"/>
              </a:rPr>
              <a:t>Model</a:t>
            </a:r>
          </a:p>
          <a:p>
            <a:endParaRPr lang="en-US" altLang="ko-KR" sz="2400" b="0" i="0" dirty="0">
              <a:effectLst/>
              <a:latin typeface="Trebuchet MS" panose="020B0603020202020204" pitchFamily="34" charset="0"/>
              <a:ea typeface="돋움" panose="020B0600000101010101" pitchFamily="50" charset="-127"/>
            </a:endParaRPr>
          </a:p>
          <a:p>
            <a:r>
              <a:rPr lang="en-US" altLang="ko-KR" sz="2400" dirty="0" err="1">
                <a:ea typeface="돋움" panose="020B0600000101010101" pitchFamily="50" charset="-127"/>
              </a:rPr>
              <a:t>Tensorflow</a:t>
            </a:r>
            <a:r>
              <a:rPr lang="ko-KR" altLang="en-US" sz="2400" dirty="0">
                <a:ea typeface="돋움" panose="020B0600000101010101" pitchFamily="50" charset="-127"/>
              </a:rPr>
              <a:t>에서 </a:t>
            </a:r>
            <a:r>
              <a:rPr lang="en-US" altLang="ko-KR" sz="2400" dirty="0">
                <a:ea typeface="돋움" panose="020B0600000101010101" pitchFamily="50" charset="-127"/>
              </a:rPr>
              <a:t>Inception-V3 or </a:t>
            </a:r>
            <a:r>
              <a:rPr lang="en-US" altLang="ko-KR" sz="2400" dirty="0" err="1">
                <a:ea typeface="돋움" panose="020B0600000101010101" pitchFamily="50" charset="-127"/>
              </a:rPr>
              <a:t>MobileNet</a:t>
            </a:r>
            <a:r>
              <a:rPr lang="en-US" altLang="ko-KR" sz="2400" dirty="0">
                <a:ea typeface="돋움" panose="020B0600000101010101" pitchFamily="50" charset="-127"/>
              </a:rPr>
              <a:t> </a:t>
            </a:r>
            <a:r>
              <a:rPr lang="ko-KR" altLang="en-US" sz="2400" dirty="0">
                <a:ea typeface="돋움" panose="020B0600000101010101" pitchFamily="50" charset="-127"/>
              </a:rPr>
              <a:t>의 검증된 모델을 사용 </a:t>
            </a:r>
            <a:endParaRPr lang="en-US" altLang="ko-KR" sz="2400" dirty="0"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3542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C5193A-901F-4F85-BAA5-D58F75585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</a:t>
            </a:r>
            <a:r>
              <a:rPr lang="en-US" altLang="ko-KR" dirty="0" err="1"/>
              <a:t>Tensorflow</a:t>
            </a:r>
            <a:r>
              <a:rPr lang="en-US" altLang="ko-KR" dirty="0"/>
              <a:t> lite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D3CD0E-BDC5-4F70-8E06-77F329FA2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755776"/>
            <a:ext cx="7797800" cy="1636712"/>
          </a:xfrm>
        </p:spPr>
        <p:txBody>
          <a:bodyPr>
            <a:normAutofit/>
          </a:bodyPr>
          <a:lstStyle/>
          <a:p>
            <a:r>
              <a:rPr lang="ko-KR" altLang="en-US" dirty="0"/>
              <a:t>모바일을 지원하는 </a:t>
            </a:r>
            <a:r>
              <a:rPr lang="en-US" altLang="ko-KR" dirty="0" err="1"/>
              <a:t>tensorflow</a:t>
            </a:r>
            <a:endParaRPr lang="ko-KR" altLang="en-US" dirty="0"/>
          </a:p>
        </p:txBody>
      </p:sp>
      <p:pic>
        <p:nvPicPr>
          <p:cNvPr id="13314" name="Picture 2" descr="TensorFlow Lite architecture diagram">
            <a:extLst>
              <a:ext uri="{FF2B5EF4-FFF2-40B4-BE49-F238E27FC236}">
                <a16:creationId xmlns:a16="http://schemas.microsoft.com/office/drawing/2014/main" id="{4630B1A4-F482-4268-A544-3354D46ECA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2905" y="1684024"/>
            <a:ext cx="5025095" cy="4633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2">
            <a:extLst>
              <a:ext uri="{FF2B5EF4-FFF2-40B4-BE49-F238E27FC236}">
                <a16:creationId xmlns:a16="http://schemas.microsoft.com/office/drawing/2014/main" id="{52397308-0A09-4126-A3A9-912EA3664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505" y="3055938"/>
            <a:ext cx="6273799" cy="246241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71672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목판">
  <a:themeElements>
    <a:clrScheme name="목판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목판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목판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TM03090434[[fn=목판]]</Template>
  <TotalTime>181</TotalTime>
  <Words>355</Words>
  <Application>Microsoft Office PowerPoint</Application>
  <PresentationFormat>와이드스크린</PresentationFormat>
  <Paragraphs>82</Paragraphs>
  <Slides>16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3" baseType="lpstr">
      <vt:lpstr>돋움</vt:lpstr>
      <vt:lpstr>Arial</vt:lpstr>
      <vt:lpstr>Rockwell</vt:lpstr>
      <vt:lpstr>Rockwell Condensed</vt:lpstr>
      <vt:lpstr>Trebuchet MS</vt:lpstr>
      <vt:lpstr>Wingdings</vt:lpstr>
      <vt:lpstr>목판</vt:lpstr>
      <vt:lpstr>이미지 인식  CNN의 이해</vt:lpstr>
      <vt:lpstr>목차</vt:lpstr>
      <vt:lpstr>PowerPoint 프레젠테이션</vt:lpstr>
      <vt:lpstr>1.1 지도 학습 (Supervised Leanring)</vt:lpstr>
      <vt:lpstr>2. 딥러닝의 기초</vt:lpstr>
      <vt:lpstr>2. 딥러닝의 기초</vt:lpstr>
      <vt:lpstr>3. CNN(convolutional Neural Network)  3.1 개요</vt:lpstr>
      <vt:lpstr>3.2 CNN(convolutional Neural Network)</vt:lpstr>
      <vt:lpstr>3.2 CNN</vt:lpstr>
      <vt:lpstr>3.3 CNN의 구조</vt:lpstr>
      <vt:lpstr>3.3 CNN의 구조</vt:lpstr>
      <vt:lpstr>3.3 CNN의 구조</vt:lpstr>
      <vt:lpstr>3.3 CNN의 구조</vt:lpstr>
      <vt:lpstr>4. MLP(multilayer Perceptrons)와 CNN</vt:lpstr>
      <vt:lpstr>5. Deep learnig으로 돌아가서…</vt:lpstr>
      <vt:lpstr>6. Tensorflow lite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이미지 인식</dc:title>
  <dc:creator>codbs0417</dc:creator>
  <cp:lastModifiedBy>codbs0417</cp:lastModifiedBy>
  <cp:revision>19</cp:revision>
  <dcterms:created xsi:type="dcterms:W3CDTF">2018-05-23T05:21:43Z</dcterms:created>
  <dcterms:modified xsi:type="dcterms:W3CDTF">2018-05-23T08:23:07Z</dcterms:modified>
</cp:coreProperties>
</file>